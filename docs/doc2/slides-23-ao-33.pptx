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"/>
      <p:regular r:id="rId201316"/>
    </p:embeddedFont>
    <p:embeddedFont>
      <p:font typeface="Open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49784"/>
            <a:ext cx="4215798" cy="367903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328" y="758130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8136" y="712788"/>
            <a:ext cx="435906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23 — MÉTODOS DE PREÇO DE TRANSFERÊNCIA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574" y="1093291"/>
            <a:ext cx="745997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Método da Divisão de Lucro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574" y="1967409"/>
            <a:ext cx="108685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da Divisão de Lucro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reparte 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lucro operacional combinado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entre as partes conforme suas contribuições relativas em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574" y="2784872"/>
            <a:ext cx="3496778" cy="3423345"/>
          </a:xfrm>
          <a:prstGeom prst="roundRect">
            <a:avLst>
              <a:gd name="adj" fmla="val 828"/>
            </a:avLst>
          </a:prstGeom>
          <a:solidFill>
            <a:srgbClr val="EAE8F3"/>
          </a:solidFill>
          <a:ln/>
        </p:spPr>
      </p:sp>
      <p:sp>
        <p:nvSpPr>
          <p:cNvPr id="8" name="Shape 5"/>
          <p:cNvSpPr/>
          <p:nvPr/>
        </p:nvSpPr>
        <p:spPr>
          <a:xfrm>
            <a:off x="850581" y="2973884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03CC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549" y="3129756"/>
            <a:ext cx="255085" cy="2550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581" y="372993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Como funciona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850581" y="4138612"/>
            <a:ext cx="3118764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 o lucro conjunto</a:t>
            </a:r>
            <a:endParaRPr lang="en-US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critérios de alocação</a:t>
            </a:r>
            <a:endParaRPr lang="en-US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 entre as partes</a:t>
            </a:r>
            <a:endParaRPr lang="en-US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 separar lucro rotineiro e residual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347359" y="2784872"/>
            <a:ext cx="3496877" cy="3423345"/>
          </a:xfrm>
          <a:prstGeom prst="roundRect">
            <a:avLst>
              <a:gd name="adj" fmla="val 828"/>
            </a:avLst>
          </a:prstGeom>
          <a:solidFill>
            <a:srgbClr val="EAE8F3"/>
          </a:solidFill>
          <a:ln/>
        </p:spPr>
      </p:sp>
      <p:sp>
        <p:nvSpPr>
          <p:cNvPr id="13" name="Shape 9"/>
          <p:cNvSpPr/>
          <p:nvPr/>
        </p:nvSpPr>
        <p:spPr>
          <a:xfrm>
            <a:off x="4536366" y="2973884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03CC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3129756"/>
            <a:ext cx="255085" cy="2550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6366" y="3729930"/>
            <a:ext cx="30929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Vantagens e desvantagens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4536366" y="4138612"/>
            <a:ext cx="3118863" cy="1880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melhor para operações integradas; captura sinergias e intangíveis</a:t>
            </a:r>
            <a:endParaRPr lang="en-US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Desvantagens: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exige muitos dados, julgamento subjetivo e boa documentação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033244" y="2784872"/>
            <a:ext cx="3496877" cy="3423345"/>
          </a:xfrm>
          <a:prstGeom prst="roundRect">
            <a:avLst>
              <a:gd name="adj" fmla="val 828"/>
            </a:avLst>
          </a:prstGeom>
          <a:solidFill>
            <a:srgbClr val="EAE8F3"/>
          </a:solidFill>
          <a:ln/>
        </p:spPr>
      </p:sp>
      <p:sp>
        <p:nvSpPr>
          <p:cNvPr id="18" name="Shape 13"/>
          <p:cNvSpPr/>
          <p:nvPr/>
        </p:nvSpPr>
        <p:spPr>
          <a:xfrm>
            <a:off x="8222251" y="2973884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03CC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3129756"/>
            <a:ext cx="255085" cy="2550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2251" y="372993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Aplicações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8222251" y="4138612"/>
            <a:ext cx="3118863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Joint ventures</a:t>
            </a:r>
            <a:endParaRPr lang="en-US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Co-manufacturing</a:t>
            </a:r>
            <a:endParaRPr lang="en-US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P&amp;D conjunto</a:t>
            </a:r>
            <a:endParaRPr lang="en-US" sz="14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Plataformas digitais e intangíveis compartilhados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3782" y="534888"/>
            <a:ext cx="2178988" cy="165596"/>
          </a:xfrm>
          <a:prstGeom prst="roundRect">
            <a:avLst>
              <a:gd name="adj" fmla="val 7063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8570" y="578743"/>
            <a:ext cx="77885" cy="778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5347" y="570409"/>
            <a:ext cx="2542218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24 — MÉTODOS DE PREÇO DE TRANSFERÊNCIA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293782" y="720527"/>
            <a:ext cx="5177204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Escolha do Método Mais Apropriado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293782" y="1100435"/>
            <a:ext cx="560403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seleção do método deve considerar a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natureza da transação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disponibilidade de informações, a comparabilidade com o mercado e a </a:t>
            </a:r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coerência com a criação de valor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 recomendação é adotar o método mais adequado às circunstâncias específicas, com suporte técnico e documentação robusta.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293782" y="1511102"/>
            <a:ext cx="5604032" cy="375047"/>
          </a:xfrm>
          <a:prstGeom prst="roundRect">
            <a:avLst>
              <a:gd name="adj" fmla="val 3898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212" y="1632843"/>
            <a:ext cx="121738" cy="974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0381" y="1580555"/>
            <a:ext cx="5190003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Documente por que os métodos alternativos foram descartados e por que o método escolhido é o mais confiável para a transação analisada.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293782" y="1961455"/>
            <a:ext cx="3890468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Tabela comparativa dos métodos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293782" y="2280444"/>
            <a:ext cx="5604032" cy="3123406"/>
          </a:xfrm>
          <a:prstGeom prst="roundRect">
            <a:avLst>
              <a:gd name="adj" fmla="val 46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97860" y="2323207"/>
            <a:ext cx="141790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407385" y="2323207"/>
            <a:ext cx="2197541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6196552" y="2323207"/>
            <a:ext cx="1806133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594311" y="2323207"/>
            <a:ext cx="1809308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Melhor uso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3397860" y="2520454"/>
            <a:ext cx="141790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CUP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407385" y="2520454"/>
            <a:ext cx="158795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 o preço da transação controlada com uma transação comparável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6196552" y="2520454"/>
            <a:ext cx="1196548" cy="369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direto quando há comparáveis próximos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Alta força conceitual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7594311" y="2520454"/>
            <a:ext cx="1199723" cy="502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Commodities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Transações padronizadas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Mercado ativo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3397860" y="3086795"/>
            <a:ext cx="141790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Plus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4407385" y="3086795"/>
            <a:ext cx="1587956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Baseia-se no custo incorrido mais margem apropriada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6196552" y="3086795"/>
            <a:ext cx="1196548" cy="48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Útil para manufatura contratada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Bom para serviços intragrupo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7594311" y="3086795"/>
            <a:ext cx="1199723" cy="502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Serviços rotineiros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Produção sob encomenda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 limitadas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397860" y="3653135"/>
            <a:ext cx="141790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Revenda Minus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4407385" y="3653135"/>
            <a:ext cx="158795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Parte do preço de revenda e deduz margem bruta de distribuição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6196552" y="3653135"/>
            <a:ext cx="1196548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Adequado para distribuidores sem valor agregado relevante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594311" y="3653135"/>
            <a:ext cx="1199723" cy="48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Distribuidores de baixo risco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Revenda de produtos acabados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3397860" y="4204494"/>
            <a:ext cx="141790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TNMM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407385" y="4204494"/>
            <a:ext cx="158795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 a margem líquida da parte analisada frente a comparáveis independentes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196552" y="4204494"/>
            <a:ext cx="1196548" cy="605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Mais flexível quando não há comparáveis de preço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Frequentemente aplicável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7594311" y="4204494"/>
            <a:ext cx="1199723" cy="48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Comparabilidade parcial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com funções rotineiras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3397860" y="4873923"/>
            <a:ext cx="1417900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Divisão de Lucro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4407385" y="4873923"/>
            <a:ext cx="158795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Divide o lucro operacional combinado conforme as contribuições relativas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6196552" y="4873923"/>
            <a:ext cx="1196548" cy="48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Reflete melhor operações integradas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Captura intangíveis únicos e sinergias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7594311" y="4873923"/>
            <a:ext cx="1199723" cy="502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Joint ventures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Co-desenvolvimento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Operações altamente integradas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3293782" y="5479157"/>
            <a:ext cx="2558788" cy="24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Resumo prático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3293782" y="5798145"/>
            <a:ext cx="5604032" cy="52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CUP</a:t>
            </a:r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melhor quando há comparáveis de alta qualidade.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Plus</a:t>
            </a:r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Revenda Minus</a:t>
            </a:r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mais adequados para funções rotineiras.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TNMM</a:t>
            </a:r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solução flexível em cenários com comparabilidade parcial.</a:t>
            </a:r>
            <a:endParaRPr lang="en-US" sz="750" dirty="0"/>
          </a:p>
          <a:p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Divisão de Lucro</a:t>
            </a:r>
            <a:pPr algn="l" marL="342900" indent="-342900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indicada quando há contribuições integradas e intangíveis únicos.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84306" y="608608"/>
            <a:ext cx="2255087" cy="200422"/>
          </a:xfrm>
          <a:prstGeom prst="roundRect">
            <a:avLst>
              <a:gd name="adj" fmla="val 6896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59710" y="662781"/>
            <a:ext cx="92073" cy="92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97820" y="649486"/>
            <a:ext cx="2575754" cy="118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25 — INDICADORES DE LUCRATIVIDADE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2784306" y="837009"/>
            <a:ext cx="6116088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PLI's — Indicadores de Lucratividade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2784306" y="1302147"/>
            <a:ext cx="6622984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 Level Indicators (PLI's)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são métricas de rentabilidade usadas no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Transfer Pricing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medir o desempenho da entidade testada e compará-lo com empresas independentes no benchmarking. A escolha do PLI depende da função econômica, dos ativos empregados, dos riscos assumidos e da disponibilidade de dados comparáveis.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4306" y="1825724"/>
            <a:ext cx="3276419" cy="1709539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6148" y="1924745"/>
            <a:ext cx="172736" cy="1727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912097" y="2254052"/>
            <a:ext cx="143972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EBIT Margin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2912097" y="2476004"/>
            <a:ext cx="3020838" cy="931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Definição:</a:t>
            </a:r>
            <a:pPr algn="l" indent="0" marL="0">
              <a:lnSpc>
                <a:spcPct val="107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margem operacional sobre a receita líquida, medindo quanto da venda permanece após custos e despesas operacionais.</a:t>
            </a:r>
            <a:endParaRPr lang="en-US" sz="9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usar: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distribuição, revenda e serviços com funções operacionais relevantes e baixa intensidade de ativos.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0871" y="1825724"/>
            <a:ext cx="3276419" cy="1709539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82712" y="1924745"/>
            <a:ext cx="172736" cy="1727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58661" y="2254052"/>
            <a:ext cx="1625162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Mark-up sobre Custos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6258661" y="2476004"/>
            <a:ext cx="3020838" cy="78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Definição:</a:t>
            </a:r>
            <a:pPr algn="l" indent="0" marL="0">
              <a:lnSpc>
                <a:spcPct val="107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retorno operacional sobre os custos totais incorridos.</a:t>
            </a:r>
            <a:endParaRPr lang="en-US" sz="9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usar: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serviços, manufatura de baixo risco e operações em que a base de custos representa melhor a atividade econômica.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84306" y="3605411"/>
            <a:ext cx="3276419" cy="1561306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36148" y="3704431"/>
            <a:ext cx="172736" cy="17274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2912097" y="4033738"/>
            <a:ext cx="171743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 on Assets (ROA)</a:t>
            </a: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2912097" y="4255691"/>
            <a:ext cx="3020838" cy="783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Definição:</a:t>
            </a:r>
            <a:pPr algn="l" indent="0" marL="0">
              <a:lnSpc>
                <a:spcPct val="107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rentabilidade gerada pelo capital investido em ativos operacionais.</a:t>
            </a:r>
            <a:endParaRPr lang="en-US" sz="9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usar: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operações asset-heavy, como manufatura intensiva, infraestrutura e negócios em que os ativos são determinantes para o lucro.</a:t>
            </a:r>
            <a:endParaRPr lang="en-US" sz="9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30871" y="3605411"/>
            <a:ext cx="3276419" cy="1561306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82712" y="3704431"/>
            <a:ext cx="172736" cy="17274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258661" y="4033738"/>
            <a:ext cx="143972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Berry Ratio</a:t>
            </a:r>
            <a:endParaRPr lang="en-US" sz="1100" dirty="0"/>
          </a:p>
        </p:txBody>
      </p:sp>
      <p:sp>
        <p:nvSpPr>
          <p:cNvPr id="22" name="Text 11"/>
          <p:cNvSpPr/>
          <p:nvPr/>
        </p:nvSpPr>
        <p:spPr>
          <a:xfrm>
            <a:off x="6258661" y="4255691"/>
            <a:ext cx="30208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Definição:</a:t>
            </a:r>
            <a:pPr algn="l" indent="0" marL="0">
              <a:lnSpc>
                <a:spcPct val="1070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relação entre receita bruta e despesas operacionais.</a:t>
            </a:r>
            <a:endParaRPr lang="en-US" sz="90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usar: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distribuidores de baixo risco, intermediários e agentes com valor agregado limitado.</a:t>
            </a:r>
            <a:endParaRPr lang="en-US" sz="900" dirty="0"/>
          </a:p>
        </p:txBody>
      </p:sp>
      <p:sp>
        <p:nvSpPr>
          <p:cNvPr id="23" name="Shape 12"/>
          <p:cNvSpPr/>
          <p:nvPr/>
        </p:nvSpPr>
        <p:spPr>
          <a:xfrm>
            <a:off x="2784306" y="5245596"/>
            <a:ext cx="6622984" cy="628452"/>
          </a:xfrm>
          <a:prstGeom prst="roundRect">
            <a:avLst>
              <a:gd name="adj" fmla="val 2749"/>
            </a:avLst>
          </a:prstGeom>
          <a:solidFill>
            <a:srgbClr val="B6D6FC"/>
          </a:solidFill>
          <a:ln/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99397" y="5390356"/>
            <a:ext cx="143963" cy="115094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158451" y="5337473"/>
            <a:ext cx="6133748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Regra prática: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entes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asset-light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tendem a se adaptar melhor a EBIT Margin ou Mark-up; estruturas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asset-heavy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costumam ser melhor capturadas por ROA; e distribuidores de baixo risco podem ser bem avaliados com Berry Ratio.</a:t>
            </a:r>
            <a:endParaRPr lang="en-US" sz="900" dirty="0"/>
          </a:p>
        </p:txBody>
      </p:sp>
      <p:sp>
        <p:nvSpPr>
          <p:cNvPr id="26" name="Text 14"/>
          <p:cNvSpPr/>
          <p:nvPr/>
        </p:nvSpPr>
        <p:spPr>
          <a:xfrm>
            <a:off x="2784306" y="5952927"/>
            <a:ext cx="6622984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 prática, o melhor PLI é o que mais se alinha ao </a:t>
            </a:r>
            <a:pPr algn="l" indent="0" marL="0">
              <a:lnSpc>
                <a:spcPct val="107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funcional</a:t>
            </a:r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entidade testada e à qualidade dos dados disponíveis.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8711" y="519807"/>
            <a:ext cx="1422662" cy="159941"/>
          </a:xfrm>
          <a:prstGeom prst="roundRect">
            <a:avLst>
              <a:gd name="adj" fmla="val 7091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41713" y="561975"/>
            <a:ext cx="75603" cy="756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55117" y="554434"/>
            <a:ext cx="1792838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27 — ANÁLISE ECONÔMICA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378711" y="698599"/>
            <a:ext cx="4454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Estrutura da Análise Econômica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378711" y="1064716"/>
            <a:ext cx="543427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econômica segue um fluxo estruturado que conecta a caracterização da operação à conclusão sobre a conformidade dos preços praticados.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387" y="1344613"/>
            <a:ext cx="5402921" cy="26838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80983" y="2101210"/>
            <a:ext cx="1222659" cy="152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Conclusão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380983" y="3112052"/>
            <a:ext cx="1222659" cy="152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Benchmarking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588021" y="3112052"/>
            <a:ext cx="1222660" cy="152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Seleção Método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588531" y="2098578"/>
            <a:ext cx="1222660" cy="152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Caracterização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378711" y="4081562"/>
            <a:ext cx="604385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etapa exige documentação robusta e coerência técnica para sustentar a posição adotada perante a RFB.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8711" y="4248051"/>
            <a:ext cx="2693523" cy="10800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54632" y="4313833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485864" y="4591447"/>
            <a:ext cx="118126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Caracterização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485864" y="4767362"/>
            <a:ext cx="247921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entender a operação, funções, riscos, ativos e cadeia de valor.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Crítico: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narrativa deve refletir a substância econômica e a realidade operacional.</a:t>
            </a:r>
            <a:endParaRPr lang="en-US" sz="7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19461" y="4248051"/>
            <a:ext cx="2693523" cy="10800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95382" y="4313833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26615" y="4591447"/>
            <a:ext cx="1280981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Seleção de Método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226615" y="4767362"/>
            <a:ext cx="247921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escolher o PLI e a metodologia mais aderentes ao perfil funcional.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Crítico: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escolha precisa de justificativa técnica e coerência com a disponibilidade de comparáveis.</a:t>
            </a:r>
            <a:endParaRPr lang="en-US" sz="7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78711" y="5375374"/>
            <a:ext cx="2693523" cy="108009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54632" y="544115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485864" y="5718770"/>
            <a:ext cx="118126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Benchmarking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485864" y="5894685"/>
            <a:ext cx="247921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comparar a operação testada com transações comparáveis.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Crítico: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busca deve ser robusta, com filtros consistentes e comparáveis realmente aderentes.</a:t>
            </a:r>
            <a:endParaRPr lang="en-US" sz="7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19461" y="5375374"/>
            <a:ext cx="2693523" cy="108009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95382" y="5441156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226615" y="5718770"/>
            <a:ext cx="118126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Conclusão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6226615" y="5894685"/>
            <a:ext cx="247921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consolidar a análise e concluir sobre conformidade e eventuais ajustes.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Crítico: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conclusão deve estar alinhada aos fatos, ao método e ao benchmarking.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3378711" y="6508552"/>
            <a:ext cx="5434273" cy="358973"/>
          </a:xfrm>
          <a:prstGeom prst="roundRect">
            <a:avLst>
              <a:gd name="adj" fmla="val 3949"/>
            </a:avLst>
          </a:prstGeom>
          <a:solidFill>
            <a:srgbClr val="FCF2B5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3165" y="6626622"/>
            <a:ext cx="118067" cy="94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685686" y="6574631"/>
            <a:ext cx="503284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 prática, a maior parte das autuações decorre de falhas de documentação, premissas não demonstradas e inconsistência entre a narrativa técnica e os números efetivamente utilizados.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120" y="561280"/>
            <a:ext cx="2296757" cy="331391"/>
          </a:xfrm>
          <a:prstGeom prst="roundRect">
            <a:avLst>
              <a:gd name="adj" fmla="val 6310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6945" y="692051"/>
            <a:ext cx="139399" cy="1394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5994" y="619820"/>
            <a:ext cx="24756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28 — BENCHMARKING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086120" y="956866"/>
            <a:ext cx="7305492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Construção do Benchmarking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86120" y="1742281"/>
            <a:ext cx="10019454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benchmarking é construído em etapas sequenciais, desde a definição da estratégia de busca até a validação final dos comparáveis selecionados.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86120" y="245854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20" y="2735659"/>
            <a:ext cx="3232664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86120" y="2860873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Estratégia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86120" y="3229372"/>
            <a:ext cx="323266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Delimite mercado, período e metodologia antes de iniciar a coleta. Isso reduz vieses e orienta toda a análise.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479416" y="245854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416" y="2735659"/>
            <a:ext cx="3232764" cy="190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79416" y="2860873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Fontes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479416" y="3229372"/>
            <a:ext cx="323276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Reúna informações confiáveis para sustentar a triagem inicial e validar os dados essenciais dos comparáveis.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872811" y="2458541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811" y="2735659"/>
            <a:ext cx="3232764" cy="190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72811" y="2860873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Filtros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7872811" y="3229372"/>
            <a:ext cx="323276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Aplique critérios quantitativos e qualitativos para excluir empresas incompatíveis com o perfil da operação.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086120" y="4591844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3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120" y="4851499"/>
            <a:ext cx="4929362" cy="190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86120" y="4994176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086120" y="5362674"/>
            <a:ext cx="492936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independência, comparabilidade e fatores que possam distorcer o resultado, como eventos extraordinários ou diferenças estruturais.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176113" y="4591844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3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6113" y="4851499"/>
            <a:ext cx="4929461" cy="190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76113" y="4994176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Validação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6176113" y="5362674"/>
            <a:ext cx="492946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Trate outliers, revise a amostra final e confirme se os comparáveis selecionados sustentam uma conclusão defensável.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74831" y="529927"/>
            <a:ext cx="1902670" cy="237133"/>
          </a:xfrm>
          <a:prstGeom prst="roundRect">
            <a:avLst>
              <a:gd name="adj" fmla="val 6726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0851" y="595313"/>
            <a:ext cx="106261" cy="106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0192" y="576064"/>
            <a:ext cx="2180873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29 — ENTIDADE TESTADA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2274831" y="804366"/>
            <a:ext cx="6178892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Tested Party — Entidade Testada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831" y="1464866"/>
            <a:ext cx="2463838" cy="24638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69257" y="2515691"/>
            <a:ext cx="4853759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Tested Party</a:t>
            </a:r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a entidade cuja lucratividade será analisada. A escolha adequada é fundamental para a robustez do estudo.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24637" y="4143028"/>
            <a:ext cx="199325" cy="1993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06620" y="4138910"/>
            <a:ext cx="2037604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Menor Complexidade Funcional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2706620" y="4610100"/>
            <a:ext cx="203760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Priorize a entidade com funções mais simples e menor peso de intangíveis.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808" y="4143028"/>
            <a:ext cx="199325" cy="19933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92791" y="4138910"/>
            <a:ext cx="2037704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Melhor Disponibilidade de Dados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5292791" y="4610100"/>
            <a:ext cx="203770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Escolha a parte com informações financeiras mais confiáveis e acessíveis.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97079" y="4143028"/>
            <a:ext cx="199325" cy="1993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879061" y="4138910"/>
            <a:ext cx="2037604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Consistência com o Método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7879061" y="4610100"/>
            <a:ext cx="2037604" cy="36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seleção deve ser coerente com o método e o PLI adotados.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24637" y="5344269"/>
            <a:ext cx="199325" cy="19933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706620" y="5340152"/>
            <a:ext cx="1661277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FAR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2706620" y="5603776"/>
            <a:ext cx="203760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Funções, ativos e riscos devem ser os mais rotineiros e controláveis possível.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10808" y="5344269"/>
            <a:ext cx="199325" cy="19933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92791" y="5340152"/>
            <a:ext cx="1661277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Brasil vs. Exterior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5292791" y="5603776"/>
            <a:ext cx="2037704" cy="72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 geral, testa-se a entidade brasileira quando ela é mais simples e documentalmente robusta.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97079" y="5344269"/>
            <a:ext cx="199325" cy="19933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879061" y="5340152"/>
            <a:ext cx="1690447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Robustez do Estudo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7879061" y="5603776"/>
            <a:ext cx="2037604" cy="543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boa escolha reduz ajustes, melhora a amostra e fortalece a defesa técnica.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4023" y="542528"/>
            <a:ext cx="1279195" cy="176808"/>
          </a:xfrm>
          <a:prstGeom prst="roundRect">
            <a:avLst>
              <a:gd name="adj" fmla="val 7016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2383" y="589558"/>
            <a:ext cx="82647" cy="826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16304" y="579834"/>
            <a:ext cx="1628139" cy="10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30 — COMPARÁVEIS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124023" y="741859"/>
            <a:ext cx="5015184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Comparáveis Internos e Externos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124023" y="1149648"/>
            <a:ext cx="5943650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dos comparáveis determina a confiabilidade da análise. A seleção deve combinar aderência funcional, rigor na filtragem e consistência dos ajustes financeiros.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049511" y="1468934"/>
            <a:ext cx="2994744" cy="1958578"/>
          </a:xfrm>
          <a:prstGeom prst="roundRect">
            <a:avLst>
              <a:gd name="adj" fmla="val 792"/>
            </a:avLst>
          </a:prstGeom>
          <a:solidFill>
            <a:srgbClr val="403CCF"/>
          </a:solidFill>
          <a:ln/>
        </p:spPr>
      </p:sp>
      <p:sp>
        <p:nvSpPr>
          <p:cNvPr id="8" name="Text 5"/>
          <p:cNvSpPr/>
          <p:nvPr/>
        </p:nvSpPr>
        <p:spPr>
          <a:xfrm>
            <a:off x="3152795" y="1525389"/>
            <a:ext cx="2074017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Comparáveis Internos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52795" y="1743273"/>
            <a:ext cx="2788176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Transações da própria empresa com terceiros independentes em condições similares.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52795" y="2049859"/>
            <a:ext cx="2788176" cy="1357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maior comparabilidade e menor assimetria de informação.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dados históricos mais confiáveis e menos distorções setoriais.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podem não existir em quantidade suficiente.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podem refletir condições comerciais específicas.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exigem atenção a volume, prazo e risco.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28301" y="1525389"/>
            <a:ext cx="2103881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Comparáveis Externos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28301" y="1743273"/>
            <a:ext cx="2845721" cy="255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Empresas independentes identificadas em bases de dados públicas ou pagas.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28301" y="2049859"/>
            <a:ext cx="2845721" cy="993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maior disponibilidade de amostra.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permitem análises estatísticas mais amplas.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cobrem múltiplos mercados e setores.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menor aderência funcional.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Desvantagens:</a:t>
            </a:r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exigem mais ajustes e validação.</a:t>
            </a:r>
            <a:endParaRPr lang="en-US" sz="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1323" y="3491012"/>
            <a:ext cx="1456197" cy="12616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78105" y="3606998"/>
            <a:ext cx="1173431" cy="484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Tamanho mínimo da amostra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78105" y="4125119"/>
            <a:ext cx="1173431" cy="511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Busque uma amostra robusta para sustentar a conclusão e reduzir o risco de viés.</a:t>
            </a:r>
            <a:endParaRPr lang="en-US" sz="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1274" y="3491012"/>
            <a:ext cx="1456296" cy="12616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78057" y="3606998"/>
            <a:ext cx="1173530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Tratamento de dados financeiros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778057" y="3963690"/>
            <a:ext cx="1173530" cy="511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indicadores devem ser homogêneos, com ajustes para outliers e efeitos não recorrentes.</a:t>
            </a:r>
            <a:endParaRPr lang="en-US" sz="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1325" y="3491012"/>
            <a:ext cx="1456296" cy="126166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78108" y="3606998"/>
            <a:ext cx="1173530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Validação da qualidade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278108" y="3963690"/>
            <a:ext cx="1173530" cy="639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Confirme similaridade funcional, independência e plausibilidade econômica.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11376" y="3491012"/>
            <a:ext cx="1456296" cy="12616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78159" y="3606998"/>
            <a:ext cx="1173530" cy="3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Documentação necessária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778159" y="3963690"/>
            <a:ext cx="1173530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Registre a metodologia, filtros, exclusões e justificativas de ajustes.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3124023" y="4841974"/>
            <a:ext cx="5943650" cy="7739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3124023" y="4995466"/>
            <a:ext cx="190167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Critérios rigorosos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124023" y="5213350"/>
            <a:ext cx="1792342" cy="1082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Mesma ou muito próxima cadeia de valor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Funções, ativos e riscos compatíveis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Margens e dinâmica operacional coerentes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 eventos excepcionais relevantes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174922" y="4995466"/>
            <a:ext cx="190167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Boas práticas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174922" y="5213350"/>
            <a:ext cx="1854352" cy="95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Combinar análise qualitativa e quantitativa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Explicar exclusões de forma explícita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Revisar resultados com teste de sensibilidade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premissas para auditoria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7287832" y="4995466"/>
            <a:ext cx="1901678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Uso recomendado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287832" y="5213350"/>
            <a:ext cx="1792342" cy="806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Priorizar comparáveis mais aderentes ao caso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Complementar com ajustes bem documentados</a:t>
            </a:r>
            <a:endParaRPr lang="en-US" sz="8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Checar consistência antes da defesa técnica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432" y="564059"/>
            <a:ext cx="2604824" cy="353020"/>
          </a:xfrm>
          <a:prstGeom prst="roundRect">
            <a:avLst>
              <a:gd name="adj" fmla="val 622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7615" y="667345"/>
            <a:ext cx="146443" cy="146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67279" y="625277"/>
            <a:ext cx="2762379" cy="230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31 — COMPARABILIDADE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31432" y="988020"/>
            <a:ext cx="758935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Critérios de Comparabilidade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31432" y="1826220"/>
            <a:ext cx="1052883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critérios de comparabilidade medem o grau de similaridade entre a transação controlada e as referências de mercado. A análise deve combinar julgamento técnico e evidências objetivas para sustentar a conclusão de arm’s length.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33" y="2602607"/>
            <a:ext cx="2524558" cy="36912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6084" y="2811066"/>
            <a:ext cx="200605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Análise FAR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116084" y="3203476"/>
            <a:ext cx="2006054" cy="2307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 funções, ativos e riscos assumidos pelas partes. É o critério que mais influencia a remuneração esperada e a seleção do comparável.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2491" y="2602607"/>
            <a:ext cx="2524657" cy="36912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92542" y="2811066"/>
            <a:ext cx="200615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Características do Produto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3792542" y="3489523"/>
            <a:ext cx="2006153" cy="259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Considera especificações, qualidade, customização, estágio de desenvolvimento e marca. Diferenças relevantes podem alterar preço e margem.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048" y="2602607"/>
            <a:ext cx="2524657" cy="36912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69099" y="2811066"/>
            <a:ext cx="200615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Condições Contratuais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469099" y="3489523"/>
            <a:ext cx="2006153" cy="201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 prazo, garantias, exclusividade, volume mínimo e cláusulas de reajuste. Esses termos podem mudar materialmente o resultado econômico.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35606" y="2602607"/>
            <a:ext cx="2524657" cy="36912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5656" y="2811066"/>
            <a:ext cx="200615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Critérios Quantitativos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9145656" y="3489523"/>
            <a:ext cx="2006153" cy="201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Observa porte, período fiscal, estabilidade dos dados e qualidade das demonstrações. Divergências exigem cautela e, quando possível, ajustes.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41152"/>
            <a:ext cx="2780635" cy="367903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328" y="749498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8136" y="704155"/>
            <a:ext cx="292390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32 — FAIXA INTERQUARTIL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574" y="1084659"/>
            <a:ext cx="1031978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Interquartile Range — Faixa Interquartil</a:t>
            </a:r>
            <a:endParaRPr lang="en-US" sz="3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2171402"/>
            <a:ext cx="5430206" cy="3832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59287" y="2128838"/>
            <a:ext cx="4977085" cy="3534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Interquartile Range (IQR)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a faixa entre 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P25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P75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onde se concentra a parte central dos comparáveis.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 é usado porque reduz a influência de valores extremos e torna a análise mais estável.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Assim, o IQR ajuda a identificar resultados que permanecem consistentes dentro de um intervalo aceito.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o resultado estiver dentro dessa faixa, tende a ser considerado em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985242"/>
            <a:ext cx="2243478" cy="367903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328" y="1093589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8136" y="1048246"/>
            <a:ext cx="238674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SLIDE 33 — RESULTADOS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574" y="1428750"/>
            <a:ext cx="76026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Interpretação dos Resultados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574" y="2302867"/>
            <a:ext cx="108685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Após calcular o PLI da entidade testada, o resultado é comparado ao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Interquartile Range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 benchmarking, gerando três cenários possíveis.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574" y="3120330"/>
            <a:ext cx="3496778" cy="2752427"/>
          </a:xfrm>
          <a:prstGeom prst="roundRect">
            <a:avLst>
              <a:gd name="adj" fmla="val 1030"/>
            </a:avLst>
          </a:prstGeom>
          <a:solidFill>
            <a:srgbClr val="EAE8F3"/>
          </a:solidFill>
          <a:ln/>
        </p:spPr>
      </p:sp>
      <p:sp>
        <p:nvSpPr>
          <p:cNvPr id="8" name="Shape 5"/>
          <p:cNvSpPr/>
          <p:nvPr/>
        </p:nvSpPr>
        <p:spPr>
          <a:xfrm>
            <a:off x="850581" y="3309342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00A4B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6549" y="3465215"/>
            <a:ext cx="255085" cy="2550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581" y="406538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Dentro do Range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850581" y="4474071"/>
            <a:ext cx="31187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PLI está entre P25 e P75. Em regra, é compatível com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arm's length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não exige ajuste.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347359" y="3120330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EAE8F3"/>
          </a:solidFill>
          <a:ln/>
        </p:spPr>
      </p:sp>
      <p:sp>
        <p:nvSpPr>
          <p:cNvPr id="13" name="Shape 9"/>
          <p:cNvSpPr/>
          <p:nvPr/>
        </p:nvSpPr>
        <p:spPr>
          <a:xfrm>
            <a:off x="4536366" y="3309342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03CC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2334" y="3465215"/>
            <a:ext cx="255085" cy="2550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6366" y="406538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Próximo ao Limite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4536366" y="4474071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resultado está dentro do intervalo, mas próximo de um dos quartis. Requer análise qualitativa complementar.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033244" y="3120330"/>
            <a:ext cx="3496877" cy="2752427"/>
          </a:xfrm>
          <a:prstGeom prst="roundRect">
            <a:avLst>
              <a:gd name="adj" fmla="val 1030"/>
            </a:avLst>
          </a:prstGeom>
          <a:solidFill>
            <a:srgbClr val="EAE8F3"/>
          </a:solidFill>
          <a:ln/>
        </p:spPr>
      </p:sp>
      <p:sp>
        <p:nvSpPr>
          <p:cNvPr id="18" name="Shape 13"/>
          <p:cNvSpPr/>
          <p:nvPr/>
        </p:nvSpPr>
        <p:spPr>
          <a:xfrm>
            <a:off x="8222251" y="3309342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4F2D7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8219" y="3465215"/>
            <a:ext cx="255085" cy="2550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2251" y="406538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Fora do Range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8222251" y="4474071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 possível exposição a ajuste fiscal e necessidade de reavaliar a posição adotada e a documentação de suporte.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2026-06-12T15:53:10Z</dcterms:created>
  <dcterms:modified xsi:type="dcterms:W3CDTF">2026-06-12T15:53:10Z</dcterms:modified>
</cp:coreProperties>
</file>