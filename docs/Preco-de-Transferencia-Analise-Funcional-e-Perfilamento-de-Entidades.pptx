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"/>
      <p:regular r:id="rId201316"/>
    </p:embeddedFont>
    <p:embeddedFont>
      <p:font typeface="Open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image" Target="../media/image-8-17.png"/><Relationship Id="rId18" Type="http://schemas.openxmlformats.org/officeDocument/2006/relationships/image" Target="../media/image-8-18.svg"/><Relationship Id="rId19" Type="http://schemas.openxmlformats.org/officeDocument/2006/relationships/image" Target="../media/image-8-19.png"/><Relationship Id="rId20" Type="http://schemas.openxmlformats.org/officeDocument/2006/relationships/image" Target="../media/image-8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715367"/>
            <a:ext cx="2715053" cy="231775"/>
          </a:xfrm>
          <a:prstGeom prst="roundRect">
            <a:avLst>
              <a:gd name="adj" fmla="val 6850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740947" y="755055"/>
            <a:ext cx="3165892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GRANT THORNTON | TREINAMENTO CORPORATIVO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574" y="989409"/>
            <a:ext cx="10868547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Preço de Transferência: Análise Funcional e Perfilamento de Entidades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574" y="1975048"/>
            <a:ext cx="108685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Treinamento técnico voltado às equipes de controladoria, fiscal e preço de transferência da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JBS Aves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Seara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Uma imersão prática nos fundamentos da análise funcional e na classificação das entidades do grupo à luz da nova legislação brasileira.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326" y="2475111"/>
            <a:ext cx="5463443" cy="3667522"/>
          </a:xfrm>
          <a:prstGeom prst="roundRect">
            <a:avLst>
              <a:gd name="adj" fmla="val 541"/>
            </a:avLst>
          </a:prstGeom>
          <a:solidFill>
            <a:srgbClr val="4F2D7F"/>
          </a:solidFill>
          <a:ln/>
        </p:spPr>
      </p:sp>
      <p:sp>
        <p:nvSpPr>
          <p:cNvPr id="7" name="Text 5"/>
          <p:cNvSpPr/>
          <p:nvPr/>
        </p:nvSpPr>
        <p:spPr>
          <a:xfrm>
            <a:off x="698582" y="2580878"/>
            <a:ext cx="22634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Realização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8582" y="2893318"/>
            <a:ext cx="51989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Grant Thornton Brasil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Specialist Transfer Pricing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523" y="2580878"/>
            <a:ext cx="22634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Cliente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523" y="2893318"/>
            <a:ext cx="588253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JBS Aves &amp; Seara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523" y="3202880"/>
            <a:ext cx="3936902" cy="22225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63523" y="5544443"/>
            <a:ext cx="22634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63523" y="5856883"/>
            <a:ext cx="588253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737592"/>
            <a:ext cx="1024309" cy="323652"/>
          </a:xfrm>
          <a:prstGeom prst="roundRect">
            <a:avLst>
              <a:gd name="adj" fmla="val 6132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140" y="793552"/>
            <a:ext cx="1422761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VISÃO GERAL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574" y="1127323"/>
            <a:ext cx="824705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Agenda e Objetivos do Treinamento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574" y="1892102"/>
            <a:ext cx="1086854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Dois dias de imersão técnica com metodologia prática e aplicável ao dia a dia do grupo. Ao final, os participantes estarão aptos a compreender, revisar e contribuir ativamente com as análises de preço de transferência.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574" y="2607370"/>
            <a:ext cx="3512653" cy="3512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93880" y="271938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845918" y="3287812"/>
            <a:ext cx="232830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Dia 1 — Fundamentos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5918" y="3645495"/>
            <a:ext cx="3143965" cy="20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Contexto Brasil × OCDE e a nova legislação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Conceito de Análise Funcional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 FAR: Functions, Assets &amp; Risks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Mapeamento de funções por entidade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521" y="2607370"/>
            <a:ext cx="3512653" cy="35129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71827" y="271938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4523865" y="3287812"/>
            <a:ext cx="270364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Dia 2 — Aplicação Prática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23865" y="3645495"/>
            <a:ext cx="3143965" cy="1761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Ativos tangíveis e intangíveis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Riscos econômicos e alocação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Classificação de entidades (perfis funcionais)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Revisão das análises existentes do grupo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607370"/>
            <a:ext cx="3512653" cy="3512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49774" y="271938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8201812" y="328781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Objetivos Gerais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01812" y="3645495"/>
            <a:ext cx="3143965" cy="2290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Compreender a lógica da análise funcional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Identificar funções, ativos e riscos por entidade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Classificar corretamente o perfil funcional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Contribuir para a robustez da documentação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74831" y="364827"/>
            <a:ext cx="1275524" cy="196453"/>
          </a:xfrm>
          <a:prstGeom prst="roundRect">
            <a:avLst>
              <a:gd name="adj" fmla="val 7103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2344580" y="399653"/>
            <a:ext cx="17456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CONTEXTO REGULATÓRIO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274831" y="593923"/>
            <a:ext cx="7291503" cy="363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Brasil × OCDE: A Transição do Modelo de TP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274831" y="1079897"/>
            <a:ext cx="7641935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a Lei nº 14.596/2023, o Brasil iniciou uma transição estrutural: do modelo de margens fixas para o padrão internacional de preço de transferência baseado na OCDE. O conceito central dessa mudança é a </a:t>
            </a:r>
            <a:pPr algn="l"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funcional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inexistente na legislação anterior.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4831" y="1488579"/>
            <a:ext cx="7641935" cy="42986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74831" y="5879207"/>
            <a:ext cx="7641935" cy="521891"/>
          </a:xfrm>
          <a:prstGeom prst="roundRect">
            <a:avLst>
              <a:gd name="adj" fmla="val 3342"/>
            </a:avLst>
          </a:prstGeom>
          <a:solidFill>
            <a:srgbClr val="B6D6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112" y="6030714"/>
            <a:ext cx="145352" cy="1162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52745" y="5981799"/>
            <a:ext cx="7147738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Impacto prático:</a:t>
            </a:r>
            <a:pPr algn="l"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 empresas precisam documentar com rigor as funções exercidas, ativos utilizados e riscos assumidos por cada entidade do grupo — base de toda a análise de TP sob o novo modelo.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20142" y="369590"/>
            <a:ext cx="991766" cy="199231"/>
          </a:xfrm>
          <a:prstGeom prst="roundRect">
            <a:avLst>
              <a:gd name="adj" fmla="val 6724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93463" y="409377"/>
            <a:ext cx="1454709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CONCEITO CENTRAL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2020142" y="598884"/>
            <a:ext cx="444806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que é Análise Funcional?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2020142" y="1060748"/>
            <a:ext cx="8151410" cy="682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análise funcional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é o processo estruturado de identificar e descrever as atividades econômicas relevantes exercidas por cada entidade de um grupo multinacional. É a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fundação de toda a documentação de preço de transferência</a:t>
            </a:r>
            <a:pPr algn="l" indent="0" marL="0">
              <a:lnSpc>
                <a:spcPct val="112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o ponto de partida para a seleção do método mais adequado.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remuneração de uma entidade deve ser </a:t>
            </a:r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compatível com as funções exercidas, os ativos empregados e os riscos assumidos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Uma entidade com baixo risco e poucas funções estratégicas tende a ter remuneração mais estável e previsível — princípio central do TP.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7723" y="1828304"/>
            <a:ext cx="7336249" cy="40650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0846" y="3591767"/>
            <a:ext cx="1549158" cy="2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Remuneração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390846" y="3852068"/>
            <a:ext cx="1549158" cy="27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Nexo entre funções, ativos e riscos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21788" y="3724507"/>
            <a:ext cx="1621211" cy="2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Ativos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38926" y="3984808"/>
            <a:ext cx="1786935" cy="13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Bens e recursos envolvidos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836537" y="4694218"/>
            <a:ext cx="1621211" cy="2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Riscos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753675" y="4954519"/>
            <a:ext cx="1786936" cy="27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Exposição e alocação de riscos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038288" y="2280354"/>
            <a:ext cx="1621211" cy="20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Funções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955426" y="2540655"/>
            <a:ext cx="1786935" cy="27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Atividades econômicas desempenhadas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020142" y="6062861"/>
            <a:ext cx="2507493" cy="340816"/>
          </a:xfrm>
          <a:prstGeom prst="roundRect">
            <a:avLst>
              <a:gd name="adj" fmla="val 4913"/>
            </a:avLst>
          </a:prstGeom>
          <a:solidFill>
            <a:srgbClr val="C3C2F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761" y="6218932"/>
            <a:ext cx="139498" cy="11162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82877" y="6158508"/>
            <a:ext cx="2642725" cy="149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Funções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[editable text]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806234" y="6062861"/>
            <a:ext cx="2507493" cy="340816"/>
          </a:xfrm>
          <a:prstGeom prst="roundRect">
            <a:avLst>
              <a:gd name="adj" fmla="val 4913"/>
            </a:avLst>
          </a:prstGeom>
          <a:solidFill>
            <a:srgbClr val="C3C2F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853" y="6218932"/>
            <a:ext cx="139498" cy="11162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68969" y="6158508"/>
            <a:ext cx="2642725" cy="149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Ativos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[editable text]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7592326" y="6062861"/>
            <a:ext cx="2591727" cy="340816"/>
          </a:xfrm>
          <a:prstGeom prst="roundRect">
            <a:avLst>
              <a:gd name="adj" fmla="val 4913"/>
            </a:avLst>
          </a:prstGeom>
          <a:solidFill>
            <a:srgbClr val="C3C2F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945" y="6218932"/>
            <a:ext cx="139498" cy="1116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55061" y="6158508"/>
            <a:ext cx="2726959" cy="149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Riscos</a:t>
            </a:r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- [editable text]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895350"/>
            <a:ext cx="1279890" cy="310952"/>
          </a:xfrm>
          <a:prstGeom prst="roundRect">
            <a:avLst>
              <a:gd name="adj" fmla="val 6383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760790" y="944959"/>
            <a:ext cx="1691042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FRAMEWORK FAR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574" y="1272381"/>
            <a:ext cx="10554031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Functions, Assets &amp; Risks — O Framework FAR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574" y="2037159"/>
            <a:ext cx="1086854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framework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FAR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organiza a análise funcional em três dimensões complementares. A combinação dessas dimensões define o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perfil funcional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 entidade e orienta a seleção de comparáveis e métodos de precificação.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574" y="2752427"/>
            <a:ext cx="3512653" cy="3210123"/>
          </a:xfrm>
          <a:prstGeom prst="roundRect">
            <a:avLst>
              <a:gd name="adj" fmla="val 773"/>
            </a:avLst>
          </a:prstGeom>
          <a:solidFill>
            <a:srgbClr val="EAE8F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868" y="2917726"/>
            <a:ext cx="496081" cy="496094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291" y="3054052"/>
            <a:ext cx="223237" cy="2232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6868" y="3579118"/>
            <a:ext cx="227602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Functions — Funções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6868" y="3936802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Atividades economicamente significativas exercidas pela entidade.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26868" y="4565253"/>
            <a:ext cx="3182064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Manufatura e produção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P&amp;D e desenvolvimento de produtos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Marketing, vendas e distribuição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de cadeia de suprimentos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9521" y="2752427"/>
            <a:ext cx="3512653" cy="3210123"/>
          </a:xfrm>
          <a:prstGeom prst="roundRect">
            <a:avLst>
              <a:gd name="adj" fmla="val 773"/>
            </a:avLst>
          </a:prstGeom>
          <a:solidFill>
            <a:srgbClr val="EAE8F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815" y="2917726"/>
            <a:ext cx="496081" cy="496094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1238" y="3054052"/>
            <a:ext cx="223237" cy="2232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04815" y="357911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Assets — Ativos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4504815" y="3936802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Recursos tangíveis e intangíveis utilizados nas operações.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504815" y="4565253"/>
            <a:ext cx="3182064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Plantas industriais e equipamentos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Patentes, marcas e know-how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 de giro e infraestrutura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Sistemas de TI e plataformas digitais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17468" y="2752427"/>
            <a:ext cx="3512653" cy="3210123"/>
          </a:xfrm>
          <a:prstGeom prst="roundRect">
            <a:avLst>
              <a:gd name="adj" fmla="val 773"/>
            </a:avLst>
          </a:prstGeom>
          <a:solidFill>
            <a:srgbClr val="EAE8F3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2762" y="2917726"/>
            <a:ext cx="496081" cy="496094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9185" y="3054052"/>
            <a:ext cx="223237" cy="22324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182762" y="357911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Risks — Riscos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8182762" y="3936802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Exposições econômicas assumidas e controladas pela entidade.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8182762" y="4565253"/>
            <a:ext cx="3182064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 de mercado e demanda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 cambial e de crédito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 de estoque e produção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Risco regulatório e operacional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49288"/>
            <a:ext cx="1802462" cy="323652"/>
          </a:xfrm>
          <a:prstGeom prst="roundRect">
            <a:avLst>
              <a:gd name="adj" fmla="val 6132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140" y="705247"/>
            <a:ext cx="2200914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DIMENSÃO 1 — FUNÇÕES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574" y="1039019"/>
            <a:ext cx="88179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Mapeamento de Funções por Entidade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574" y="1803797"/>
            <a:ext cx="1086854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mapeamento de funções descreve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que cada entidade faz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na cadeia de valor do grupo. A distinção entre funções de rotina e estratégicas é determinante para o perfil de risco e a remuneração esperada.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2515" y="2519065"/>
            <a:ext cx="5470686" cy="3689648"/>
          </a:xfrm>
          <a:prstGeom prst="roundRect">
            <a:avLst>
              <a:gd name="adj" fmla="val 672"/>
            </a:avLst>
          </a:prstGeom>
          <a:solidFill>
            <a:srgbClr val="4F2D7F"/>
          </a:solidFill>
          <a:ln/>
        </p:spPr>
      </p:sp>
      <p:sp>
        <p:nvSpPr>
          <p:cNvPr id="7" name="Text 5"/>
          <p:cNvSpPr/>
          <p:nvPr/>
        </p:nvSpPr>
        <p:spPr>
          <a:xfrm>
            <a:off x="707809" y="2684363"/>
            <a:ext cx="311360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Funções de Manufatura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7809" y="3108127"/>
            <a:ext cx="5140097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Processamento e abate de aves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Industrialização e embalagem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Controle de qualidade e segurança alimentar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de fornecedores de insumos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Planejamento e controle da produção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2684363"/>
            <a:ext cx="45968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Funções de Distribuição e Comerciais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3904" y="3108127"/>
            <a:ext cx="5232567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Vendas domésticas e exportação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de clientes e canais de distribuição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Marketing de marca e trade marketing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Logística, armazenagem e expedição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de contratos e precificação comercial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3904" y="4848622"/>
            <a:ext cx="5232567" cy="1174055"/>
          </a:xfrm>
          <a:prstGeom prst="roundRect">
            <a:avLst>
              <a:gd name="adj" fmla="val 2113"/>
            </a:avLst>
          </a:prstGeom>
          <a:solidFill>
            <a:srgbClr val="C3C2F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9198" y="5101034"/>
            <a:ext cx="206667" cy="16529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41160" y="5038725"/>
            <a:ext cx="453001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Atenção: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entidade que toma decisões estratégicas (preço, mix, clientes) assume maior risco e deve ser remunerada de forma compatível.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78061"/>
            <a:ext cx="1653737" cy="323652"/>
          </a:xfrm>
          <a:prstGeom prst="roundRect">
            <a:avLst>
              <a:gd name="adj" fmla="val 6132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140" y="734020"/>
            <a:ext cx="2052189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DIMENSÃO 2 — ATIVOS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574" y="1067792"/>
            <a:ext cx="972716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Ativos Utilizados pelas Entidades do Grupo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574" y="1832570"/>
            <a:ext cx="1086854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identificação dos ativos é essencial para entender 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capacidade de geração de valor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 cada entidade. Ativos intangíveis são frequentemente o principal driver de remuneração diferenciada em grupos multinacionais.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574" y="2547838"/>
            <a:ext cx="413434" cy="413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574" y="316795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Ativos Tangíveis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1574" y="3525639"/>
            <a:ext cx="34850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Recursos físicos utilizados nas operações produtivas e logísticas.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574" y="4154091"/>
            <a:ext cx="3485071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Plantas industriais e frigoríficos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Equipamentos de produção e automação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Frota, armazéns e centros de distribuição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Imóveis, terrenos e infraestrutura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312" y="2547838"/>
            <a:ext cx="413434" cy="4134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53312" y="316795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Ativos Intangíveis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353312" y="3525639"/>
            <a:ext cx="34850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Recursos não físicos com alto potencial de geração de valor econômico.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353312" y="4154091"/>
            <a:ext cx="3485071" cy="20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Marcas, patentes e registros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Know-how, fórmulas e processos exclusivos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Softwares, plataformas e sistemas proprietários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Relacionamentos com clientes e contratos de longo prazo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5050" y="2547838"/>
            <a:ext cx="413434" cy="41344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5050" y="316795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Ativos Financeiros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045050" y="3525639"/>
            <a:ext cx="34850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Recursos financeiros empregados para sustentar as operações.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045050" y="4154091"/>
            <a:ext cx="3485071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 de giro e reservas de caixa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Financiamentos e linhas de crédito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Investimentos em subsidiárias</a:t>
            </a:r>
            <a:endParaRPr lang="en-US" sz="13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Garantias e instrumentos de hedge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11386"/>
            <a:ext cx="1573272" cy="303014"/>
          </a:xfrm>
          <a:prstGeom prst="roundRect">
            <a:avLst>
              <a:gd name="adj" fmla="val 6222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179" y="664865"/>
            <a:ext cx="1981647" cy="196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DIMENSÃO 3 — RISCOS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574" y="974030"/>
            <a:ext cx="7383377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Riscos Assumidos pelas Entidades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661574" y="1688802"/>
            <a:ext cx="10868547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 análise funcional, o que importa não é apenas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 risco existe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mas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quem o controla e quem tem capacidade financeira para assumi-lo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A alocação de riscos impacta diretamente a remuneração.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574" y="2347020"/>
            <a:ext cx="3523368" cy="212030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9003" y="2488307"/>
            <a:ext cx="188511" cy="1885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7683" y="2975471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Risco de Mercado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37683" y="3310533"/>
            <a:ext cx="3171150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Exposição a variações de preço de commodities, demanda e concorrência. Quem define o preço de venda ao cliente final?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4163" y="2347020"/>
            <a:ext cx="3523368" cy="212030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1592" y="2488307"/>
            <a:ext cx="188511" cy="1885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10272" y="2975471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Risco de Estoque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4510272" y="3310533"/>
            <a:ext cx="3171150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Responsabilidade por perdas, obsolescência e custos de armazenagem. Quem mantém o estoque e absorve as variações?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06753" y="2347020"/>
            <a:ext cx="3523368" cy="2120305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74181" y="2488307"/>
            <a:ext cx="188511" cy="18851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182862" y="2975471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Risco Cambial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8182862" y="3310533"/>
            <a:ext cx="3171150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Exposição a flutuações de câmbio em operações de importação e exportação. Quem contrata o hedge e assume o resultado?</a:t>
            </a:r>
            <a:endParaRPr lang="en-US" sz="12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574" y="4616549"/>
            <a:ext cx="5359663" cy="1629966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47150" y="4757837"/>
            <a:ext cx="188511" cy="188516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837683" y="5245001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Risco de Crédito</a:t>
            </a:r>
            <a:endParaRPr lang="en-US" sz="1500" dirty="0"/>
          </a:p>
        </p:txBody>
      </p:sp>
      <p:sp>
        <p:nvSpPr>
          <p:cNvPr id="21" name="Text 11"/>
          <p:cNvSpPr/>
          <p:nvPr/>
        </p:nvSpPr>
        <p:spPr>
          <a:xfrm>
            <a:off x="837683" y="5580063"/>
            <a:ext cx="50074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Exposição a inadimplência de clientes e contrapartes. Quem concede prazo e gerencia a carteira de recebíveis?</a:t>
            </a:r>
            <a:endParaRPr lang="en-US" sz="12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170458" y="4616549"/>
            <a:ext cx="5359663" cy="1629966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756034" y="4757837"/>
            <a:ext cx="188511" cy="188516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6346567" y="5245001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Risco Operacional</a:t>
            </a:r>
            <a:endParaRPr lang="en-US" sz="1500" dirty="0"/>
          </a:p>
        </p:txBody>
      </p:sp>
      <p:sp>
        <p:nvSpPr>
          <p:cNvPr id="25" name="Text 13"/>
          <p:cNvSpPr/>
          <p:nvPr/>
        </p:nvSpPr>
        <p:spPr>
          <a:xfrm>
            <a:off x="6346567" y="5580063"/>
            <a:ext cx="50074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Exposição a falhas de processo, qualidade, conformidade regulatória e interrupções na cadeia produtiva.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14547" y="351830"/>
            <a:ext cx="481497" cy="103584"/>
          </a:xfrm>
          <a:prstGeom prst="roundRect">
            <a:avLst>
              <a:gd name="adj" fmla="val 7978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2655821" y="372467"/>
            <a:ext cx="1008533" cy="62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CLASSIFICAÇÃO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2614547" y="466824"/>
            <a:ext cx="4609092" cy="215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Classificação das Entidades: Perfis Funcionais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614547" y="724892"/>
            <a:ext cx="7572186" cy="77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base na análise FAR, cada entidade do grupo é classificada em um </a:t>
            </a:r>
            <a:pPr algn="l" indent="0" marL="0">
              <a:lnSpc>
                <a:spcPct val="94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perfil funcional</a:t>
            </a:r>
            <a:pPr algn="l" indent="0" marL="0">
              <a:lnSpc>
                <a:spcPct val="94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Esse perfil determina a faixa de remuneração esperada, os métodos aplicáveis e a estratégia de comparabilidade.</a:t>
            </a:r>
            <a:endParaRPr lang="en-US" sz="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4547" y="835124"/>
            <a:ext cx="4522178" cy="254377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547" y="3411141"/>
            <a:ext cx="4525651" cy="254565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565038" y="5989042"/>
            <a:ext cx="3496381" cy="517029"/>
          </a:xfrm>
          <a:prstGeom prst="roundRect">
            <a:avLst>
              <a:gd name="adj" fmla="val 1998"/>
            </a:avLst>
          </a:prstGeom>
          <a:solidFill>
            <a:srgbClr val="4F2D7F"/>
          </a:solidFill>
          <a:ln/>
        </p:spPr>
      </p:sp>
      <p:sp>
        <p:nvSpPr>
          <p:cNvPr id="9" name="Text 5"/>
          <p:cNvSpPr/>
          <p:nvPr/>
        </p:nvSpPr>
        <p:spPr>
          <a:xfrm>
            <a:off x="2633894" y="6017716"/>
            <a:ext cx="1714854" cy="107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Critérios de Classificação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2633894" y="6154043"/>
            <a:ext cx="3358669" cy="342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94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Quem toma as decisões estratégicas?</a:t>
            </a:r>
            <a:endParaRPr lang="en-US" sz="500" dirty="0"/>
          </a:p>
          <a:p>
            <a:pPr algn="l" marL="342900" indent="-342900">
              <a:lnSpc>
                <a:spcPct val="94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Quem possui os ativos intangíveis?</a:t>
            </a:r>
            <a:endParaRPr lang="en-US" sz="500" dirty="0"/>
          </a:p>
          <a:p>
            <a:pPr algn="l" marL="342900" indent="-342900">
              <a:lnSpc>
                <a:spcPct val="94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Quem assume os riscos econômicos?</a:t>
            </a:r>
            <a:endParaRPr lang="en-US" sz="500" dirty="0"/>
          </a:p>
          <a:p>
            <a:pPr algn="l" marL="342900" indent="-342900">
              <a:lnSpc>
                <a:spcPct val="94000"/>
              </a:lnSpc>
              <a:buSzPct val="100000"/>
              <a:buChar char="•"/>
            </a:pPr>
            <a:r>
              <a:rPr lang="en-US" sz="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 a complexidade das funções?</a:t>
            </a:r>
            <a:endParaRPr lang="en-US" sz="500" dirty="0"/>
          </a:p>
        </p:txBody>
      </p:sp>
      <p:sp>
        <p:nvSpPr>
          <p:cNvPr id="11" name="Text 7"/>
          <p:cNvSpPr/>
          <p:nvPr/>
        </p:nvSpPr>
        <p:spPr>
          <a:xfrm>
            <a:off x="6186134" y="6017716"/>
            <a:ext cx="1695209" cy="107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Relevância para o Grupo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6186134" y="6154043"/>
            <a:ext cx="3397363" cy="155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correta classificação impacta a </a:t>
            </a:r>
            <a:pPr algn="l" indent="0" marL="0">
              <a:lnSpc>
                <a:spcPct val="94000"/>
              </a:lnSpc>
              <a:buNone/>
            </a:pPr>
            <a:r>
              <a:rPr lang="en-US" sz="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seleção do método de TP</a:t>
            </a:r>
            <a:pPr algn="l" indent="0" marL="0">
              <a:lnSpc>
                <a:spcPct val="94000"/>
              </a:lnSpc>
              <a:buNone/>
            </a:pPr>
            <a:r>
              <a:rPr lang="en-US" sz="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 busca por comparáveis e a defesa perante o Fisco. Perfis mal classificados geram exposição a ajustes e autuações.</a:t>
            </a:r>
            <a:endParaRPr lang="en-US" sz="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29618" y="378619"/>
            <a:ext cx="759600" cy="180082"/>
          </a:xfrm>
          <a:prstGeom prst="roundRect">
            <a:avLst>
              <a:gd name="adj" fmla="val 7233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2594704" y="411163"/>
            <a:ext cx="1239013" cy="114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CLASSIFICAÇÃO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2529618" y="587177"/>
            <a:ext cx="6912001" cy="33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Classificação das Entidades: Perfis Funcionais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529618" y="1033066"/>
            <a:ext cx="7132459" cy="287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 base na análise FAR, cada entidade do grupo é classificada em um </a:t>
            </a:r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perfil funcional</a:t>
            </a:r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Esse perfil determina a faixa de remuneração esperada, os métodos aplicáveis e a estratégia de comparabilidade.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9618" y="1400671"/>
            <a:ext cx="7132459" cy="40121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451436" y="5492849"/>
            <a:ext cx="3590240" cy="986433"/>
          </a:xfrm>
          <a:prstGeom prst="roundRect">
            <a:avLst>
              <a:gd name="adj" fmla="val 1650"/>
            </a:avLst>
          </a:prstGeom>
          <a:solidFill>
            <a:srgbClr val="4F2D7F"/>
          </a:solidFill>
          <a:ln/>
        </p:spPr>
      </p:sp>
      <p:sp>
        <p:nvSpPr>
          <p:cNvPr id="8" name="Text 5"/>
          <p:cNvSpPr/>
          <p:nvPr/>
        </p:nvSpPr>
        <p:spPr>
          <a:xfrm>
            <a:off x="2559879" y="5563989"/>
            <a:ext cx="2352219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Critérios de Classificação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559879" y="5804595"/>
            <a:ext cx="3373353" cy="649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Quem toma as decisões estratégicas?</a:t>
            </a:r>
            <a:endParaRPr lang="en-US" sz="85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Quem possui os ativos intangíveis?</a:t>
            </a:r>
            <a:endParaRPr lang="en-US" sz="85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Quem assume os riscos econômicos?</a:t>
            </a:r>
            <a:endParaRPr lang="en-US" sz="85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 a complexidade das funções?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234552" y="5563989"/>
            <a:ext cx="2321264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Relevância para o Grupo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234552" y="5804595"/>
            <a:ext cx="3433875" cy="431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correta classificação impacta a </a:t>
            </a:r>
            <a:pPr algn="l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seleção do método de TP</a:t>
            </a:r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 busca por comparáveis e a defesa perante o Fisco. Perfis mal classificados geram exposição a ajustes e autuações.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702568"/>
            <a:ext cx="1255681" cy="323652"/>
          </a:xfrm>
          <a:prstGeom prst="roundRect">
            <a:avLst>
              <a:gd name="adj" fmla="val 6132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7140" y="758527"/>
            <a:ext cx="1654134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ENCERRAMENTO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574" y="1092299"/>
            <a:ext cx="10868547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Revisão das Análises Existentes — Espaço para Discussão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574" y="2373809"/>
            <a:ext cx="1086854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Momento dedicado a revisar as análises funcionais já realizadas pela JBS e Seara, identificar gaps e alinhar os próximos passos para adequação ao novo modelo de TP.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525" y="3089077"/>
            <a:ext cx="3531702" cy="17848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3066" y="3273425"/>
            <a:ext cx="28442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que já foi documentado?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03066" y="3631109"/>
            <a:ext cx="308681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Quais entidades possuem análise funcional formalizada? Qual o nível de detalhe e atualização dos documentos existentes?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0472" y="3089077"/>
            <a:ext cx="3531702" cy="17848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81014" y="327342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Gaps identificados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81014" y="3631109"/>
            <a:ext cx="308681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Quais entidades ainda não foram perfiladas? Há inconsistências entre a realidade operacional e a documentação de TP?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8419" y="3089077"/>
            <a:ext cx="3531702" cy="178484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58961" y="3273425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58961" y="3631109"/>
            <a:ext cx="308681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responsáveis, cronograma e escopo para revisão e atualização das análises funcionais do grupo.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61574" y="5059958"/>
            <a:ext cx="10868547" cy="909439"/>
          </a:xfrm>
          <a:prstGeom prst="roundRect">
            <a:avLst>
              <a:gd name="adj" fmla="val 2728"/>
            </a:avLst>
          </a:prstGeom>
          <a:solidFill>
            <a:srgbClr val="B6D6F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868" y="5299670"/>
            <a:ext cx="206667" cy="16529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98830" y="5250061"/>
            <a:ext cx="101659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Grant Thornton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Equipe de Preço de Transferência disponível para dar continuidade aos trabalhos e apoiar a implementação do novo modelo.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Contato: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transferpricing@br.gt.com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2026-06-11T15:25:14Z</dcterms:created>
  <dcterms:modified xsi:type="dcterms:W3CDTF">2026-06-11T15:25:14Z</dcterms:modified>
</cp:coreProperties>
</file>