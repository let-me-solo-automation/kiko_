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"/>
      <p:regular r:id="rId201316"/>
    </p:embeddedFont>
    <p:embeddedFont>
      <p:font typeface="Open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185416"/>
            <a:ext cx="1690539" cy="233214"/>
          </a:xfrm>
          <a:prstGeom prst="roundRect">
            <a:avLst>
              <a:gd name="adj" fmla="val 6383"/>
            </a:avLst>
          </a:prstGeom>
          <a:solidFill>
            <a:srgbClr val="D7D6F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9533" y="1252389"/>
            <a:ext cx="99194" cy="991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48286" y="1222623"/>
            <a:ext cx="185015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CORPORATIVO</a:t>
            </a:r>
            <a:endParaRPr lang="en-US" sz="750" dirty="0"/>
          </a:p>
        </p:txBody>
      </p:sp>
      <p:sp>
        <p:nvSpPr>
          <p:cNvPr id="6" name="Shape 2"/>
          <p:cNvSpPr/>
          <p:nvPr/>
        </p:nvSpPr>
        <p:spPr>
          <a:xfrm>
            <a:off x="5677644" y="1180654"/>
            <a:ext cx="533995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403CC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6821" y="1252389"/>
            <a:ext cx="99194" cy="991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05574" y="1222623"/>
            <a:ext cx="684088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</a:t>
            </a:r>
            <a:endParaRPr lang="en-US" sz="750" dirty="0"/>
          </a:p>
        </p:txBody>
      </p:sp>
      <p:sp>
        <p:nvSpPr>
          <p:cNvPr id="9" name="Text 4"/>
          <p:cNvSpPr/>
          <p:nvPr/>
        </p:nvSpPr>
        <p:spPr>
          <a:xfrm>
            <a:off x="3925119" y="147295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Preço de Transferência — Treinamento JBS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3925119" y="2434084"/>
            <a:ext cx="4722763" cy="1528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Capacitação técnica 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 Pricing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as equipes financeiras, fiscais e de controladoria do Grupo JBS. Este programa aborda desde os fundamentos regulatórios até a construção de análises econômicas robustas, passando pela documentação fiscal e governança de compliance.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 de 2 dias: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Dia 1 — Fundamentos Regulatórios, Análise Funcional e Métodos de TP · Dia 2 — Análise Econômica, Benchmarking, Documentação e Governança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1546" y="742057"/>
            <a:ext cx="1516335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10723" y="784027"/>
            <a:ext cx="181518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 | FALTAM 40 SLIDES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34355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Agenda e Objetivos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638895"/>
            <a:ext cx="8151763" cy="9302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958206"/>
            <a:ext cx="2910036" cy="2303711"/>
          </a:xfrm>
          <a:prstGeom prst="roundRect">
            <a:avLst>
              <a:gd name="adj" fmla="val 808"/>
            </a:avLst>
          </a:prstGeom>
          <a:solidFill>
            <a:srgbClr val="C3C2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2125117"/>
            <a:ext cx="193774" cy="1550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7840" y="2113136"/>
            <a:ext cx="23443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Dia 1 - Fundamentos e Operação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37840" y="2624807"/>
            <a:ext cx="2344341" cy="1562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Brasil x OCDE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tripé da Análise Funcional (FAR)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e Classificação de Entidades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Tipos de Transações (Produtos, Serviços, Royalties)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Visão Geral dos Métodos de TP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713485" y="1958206"/>
            <a:ext cx="4939085" cy="1712937"/>
          </a:xfrm>
          <a:prstGeom prst="roundRect">
            <a:avLst>
              <a:gd name="adj" fmla="val 1086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459" y="2125117"/>
            <a:ext cx="193774" cy="1550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55207" y="2113136"/>
            <a:ext cx="31090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Dia 2 - Economia e Compliance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55207" y="2430959"/>
            <a:ext cx="4373389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Construção da Análise Econômica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Benchmarking e Comparabilidade (O Range)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Escolha do Método e PLI na prática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Documental (Local e Master File)</a:t>
            </a:r>
            <a:endParaRPr lang="en-US" sz="9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Governança e Principais Riscos (Red Flags)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7248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91568" y="246906"/>
            <a:ext cx="919683" cy="123081"/>
          </a:xfrm>
          <a:prstGeom prst="roundRect">
            <a:avLst>
              <a:gd name="adj" fmla="val 7370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6886" y="278234"/>
            <a:ext cx="60424" cy="604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7522" y="269528"/>
            <a:ext cx="1195611" cy="77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REGULATÓRIO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1591568" y="388367"/>
            <a:ext cx="4801493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Brasil × OCDE: A Transição do Modelo de TP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591568" y="693688"/>
            <a:ext cx="6418064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Brasil iniciou sua transição ao padrão OCDE com a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 14.596/2023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substituindo o modelo de margens fixas pela metodologia de </a:t>
            </a:r>
            <a:pPr algn="l" indent="0" marL="0">
              <a:lnSpc>
                <a:spcPct val="107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arm's length</a:t>
            </a:r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internacional.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1537097" y="842814"/>
            <a:ext cx="2997175" cy="663848"/>
          </a:xfrm>
          <a:prstGeom prst="roundRect">
            <a:avLst>
              <a:gd name="adj" fmla="val 1708"/>
            </a:avLst>
          </a:prstGeom>
          <a:solidFill>
            <a:srgbClr val="403CCF"/>
          </a:solidFill>
          <a:ln/>
        </p:spPr>
      </p:sp>
      <p:sp>
        <p:nvSpPr>
          <p:cNvPr id="8" name="Text 5"/>
          <p:cNvSpPr/>
          <p:nvPr/>
        </p:nvSpPr>
        <p:spPr>
          <a:xfrm>
            <a:off x="1612627" y="888876"/>
            <a:ext cx="1697087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 Anterior — Brasil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612627" y="1053033"/>
            <a:ext cx="284611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Margens fixas por operação (PIC 20%, PRL 60%)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Pouca análise funcional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legal: Lei 9.430/1996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Desalinhado das diretrizes OCDE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4668962" y="888876"/>
            <a:ext cx="1582415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Modelo Atual — OCDE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68962" y="1053033"/>
            <a:ext cx="2888233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Arm's length com análise funcional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Seis métodos reconhecidos (BEPS)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legal: Lei 14.596/2023</a:t>
            </a:r>
            <a:endParaRPr lang="en-US" sz="550" dirty="0"/>
          </a:p>
          <a:p>
            <a:pPr algn="l" marL="342900" indent="-342900">
              <a:lnSpc>
                <a:spcPct val="107000"/>
              </a:lnSpc>
              <a:buSzPct val="100000"/>
              <a:buChar char="•"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Alinhado ao padrão internacional</a:t>
            </a:r>
            <a:endParaRPr lang="en-US" sz="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568" y="1558454"/>
            <a:ext cx="5960864" cy="33380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188342"/>
            <a:ext cx="692200" cy="107752"/>
          </a:xfrm>
          <a:prstGeom prst="roundRect">
            <a:avLst>
              <a:gd name="adj" fmla="val 7555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891" y="215057"/>
            <a:ext cx="54248" cy="54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226" y="208657"/>
            <a:ext cx="986805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897261" y="310902"/>
            <a:ext cx="346948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Funcional — O Pilar do TP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97261" y="578421"/>
            <a:ext cx="580667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mapeia o que cada entidade realiza, quais ativos utiliza e quais riscos assume — base para classificar entidades e selecionar métodos de TP.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1897261" y="704031"/>
            <a:ext cx="2656210" cy="588318"/>
          </a:xfrm>
          <a:prstGeom prst="roundRect">
            <a:avLst>
              <a:gd name="adj" fmla="val 1730"/>
            </a:avLst>
          </a:prstGeom>
          <a:solidFill>
            <a:srgbClr val="EAE8F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52" y="771823"/>
            <a:ext cx="203448" cy="20344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1012" y="827782"/>
            <a:ext cx="91529" cy="915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65052" y="1012329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1965052" y="1140619"/>
            <a:ext cx="252062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Atividades econômicas: manufatura, distribuição, P&amp;D, marketing.</a:t>
            </a:r>
            <a:endParaRPr lang="en-US" sz="500" dirty="0"/>
          </a:p>
        </p:txBody>
      </p:sp>
      <p:sp>
        <p:nvSpPr>
          <p:cNvPr id="12" name="Shape 7"/>
          <p:cNvSpPr/>
          <p:nvPr/>
        </p:nvSpPr>
        <p:spPr>
          <a:xfrm>
            <a:off x="4590529" y="704031"/>
            <a:ext cx="2656210" cy="588318"/>
          </a:xfrm>
          <a:prstGeom prst="roundRect">
            <a:avLst>
              <a:gd name="adj" fmla="val 1730"/>
            </a:avLst>
          </a:prstGeom>
          <a:solidFill>
            <a:srgbClr val="EAE8F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320" y="771823"/>
            <a:ext cx="203448" cy="203448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4280" y="827782"/>
            <a:ext cx="91529" cy="9152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58320" y="1012329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Assets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4658320" y="1140619"/>
            <a:ext cx="252062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 tangíveis (fábricas, estoques) e intangíveis (marcas, patentes).</a:t>
            </a:r>
            <a:endParaRPr lang="en-US" sz="500" dirty="0"/>
          </a:p>
        </p:txBody>
      </p:sp>
      <p:sp>
        <p:nvSpPr>
          <p:cNvPr id="17" name="Shape 10"/>
          <p:cNvSpPr/>
          <p:nvPr/>
        </p:nvSpPr>
        <p:spPr>
          <a:xfrm>
            <a:off x="1897261" y="1329407"/>
            <a:ext cx="2656210" cy="588318"/>
          </a:xfrm>
          <a:prstGeom prst="roundRect">
            <a:avLst>
              <a:gd name="adj" fmla="val 1730"/>
            </a:avLst>
          </a:prstGeom>
          <a:solidFill>
            <a:srgbClr val="EAE8F3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5052" y="1397198"/>
            <a:ext cx="203448" cy="203448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21012" y="1453158"/>
            <a:ext cx="91529" cy="91529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965052" y="1637705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Risks</a:t>
            </a:r>
            <a:endParaRPr lang="en-US" sz="650" dirty="0"/>
          </a:p>
        </p:txBody>
      </p:sp>
      <p:sp>
        <p:nvSpPr>
          <p:cNvPr id="21" name="Text 12"/>
          <p:cNvSpPr/>
          <p:nvPr/>
        </p:nvSpPr>
        <p:spPr>
          <a:xfrm>
            <a:off x="1965052" y="1765995"/>
            <a:ext cx="252062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 de mercado, estoque, cambial, crédito e operacional.</a:t>
            </a:r>
            <a:endParaRPr lang="en-US" sz="500" dirty="0"/>
          </a:p>
        </p:txBody>
      </p:sp>
      <p:sp>
        <p:nvSpPr>
          <p:cNvPr id="22" name="Shape 13"/>
          <p:cNvSpPr/>
          <p:nvPr/>
        </p:nvSpPr>
        <p:spPr>
          <a:xfrm>
            <a:off x="4590529" y="1329407"/>
            <a:ext cx="2656210" cy="588318"/>
          </a:xfrm>
          <a:prstGeom prst="roundRect">
            <a:avLst>
              <a:gd name="adj" fmla="val 1730"/>
            </a:avLst>
          </a:prstGeom>
          <a:solidFill>
            <a:srgbClr val="EAE8F3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320" y="1397198"/>
            <a:ext cx="203448" cy="203448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14280" y="1453158"/>
            <a:ext cx="91529" cy="91529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658320" y="1637705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Remuneration</a:t>
            </a:r>
            <a:endParaRPr lang="en-US" sz="650" dirty="0"/>
          </a:p>
        </p:txBody>
      </p:sp>
      <p:sp>
        <p:nvSpPr>
          <p:cNvPr id="26" name="Text 15"/>
          <p:cNvSpPr/>
          <p:nvPr/>
        </p:nvSpPr>
        <p:spPr>
          <a:xfrm>
            <a:off x="4658320" y="1765995"/>
            <a:ext cx="252062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 conforme funções, ativos e riscos assumidos.</a:t>
            </a:r>
            <a:endParaRPr lang="en-US" sz="5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7261" y="1959397"/>
            <a:ext cx="5349478" cy="29956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759" y="304205"/>
            <a:ext cx="883667" cy="159990"/>
          </a:xfrm>
          <a:prstGeom prst="roundRect">
            <a:avLst>
              <a:gd name="adj" fmla="val 6978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9569" y="346993"/>
            <a:ext cx="74414" cy="74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1190" y="332110"/>
            <a:ext cx="1117625" cy="104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FAR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903759" y="492100"/>
            <a:ext cx="5526658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Functions, Assets &amp; Risks — Detalhamento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759" y="965895"/>
            <a:ext cx="3932858" cy="111539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0424" y="1045146"/>
            <a:ext cx="139526" cy="1395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6301" y="1324198"/>
            <a:ext cx="137599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 — Exemplos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06301" y="1539255"/>
            <a:ext cx="3727772" cy="43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Manufatura: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produção, controle de qualidade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Distribuição: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logística, vendas, pós-venda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Serviços: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TI, RH, jurídico, financeiro</a:t>
            </a:r>
            <a:endParaRPr lang="en-US" sz="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3759" y="2151013"/>
            <a:ext cx="3932858" cy="111539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00424" y="2230264"/>
            <a:ext cx="139526" cy="1395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6301" y="250931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Assets — Exemplos</a:t>
            </a:r>
            <a:endParaRPr lang="en-US" sz="900" dirty="0"/>
          </a:p>
        </p:txBody>
      </p:sp>
      <p:sp>
        <p:nvSpPr>
          <p:cNvPr id="13" name="Text 6"/>
          <p:cNvSpPr/>
          <p:nvPr/>
        </p:nvSpPr>
        <p:spPr>
          <a:xfrm>
            <a:off x="1006301" y="2724373"/>
            <a:ext cx="3727772" cy="43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Tangíveis: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plantas, equipamentos, frota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Intangíveis: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marcas, patentes, know-how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Financeiros: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capital de giro, garantias</a:t>
            </a:r>
            <a:endParaRPr lang="en-US" sz="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3759" y="3336131"/>
            <a:ext cx="3932858" cy="1424657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0424" y="3415382"/>
            <a:ext cx="139526" cy="13952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06301" y="369443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Risks — Exemplos</a:t>
            </a:r>
            <a:endParaRPr lang="en-US" sz="900" dirty="0"/>
          </a:p>
        </p:txBody>
      </p:sp>
      <p:sp>
        <p:nvSpPr>
          <p:cNvPr id="17" name="Text 8"/>
          <p:cNvSpPr/>
          <p:nvPr/>
        </p:nvSpPr>
        <p:spPr>
          <a:xfrm>
            <a:off x="1006301" y="3909492"/>
            <a:ext cx="3727772" cy="748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Mercado: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variação de demanda e preços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Estoque: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obsolescência, perdas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Cambial: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exposição a moedas estrangeiras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Crédito: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inadimplência de clientes</a:t>
            </a:r>
            <a:endParaRPr lang="en-US" sz="7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Operacional: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falhas de processo</a:t>
            </a:r>
            <a:endParaRPr lang="en-US" sz="7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68342" y="965895"/>
            <a:ext cx="3176513" cy="24101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67991" y="262756"/>
            <a:ext cx="603721" cy="119137"/>
          </a:xfrm>
          <a:prstGeom prst="roundRect">
            <a:avLst>
              <a:gd name="adj" fmla="val 7419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2119" y="292894"/>
            <a:ext cx="58862" cy="588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0374" y="284783"/>
            <a:ext cx="884411" cy="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CLASSIFICAÇÃO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1667991" y="399380"/>
            <a:ext cx="4563442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Classificação das Entidades e Delineamento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67991" y="695027"/>
            <a:ext cx="6265218" cy="93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06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delineamento</a:t>
            </a:r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define o perfil funcional de cada entidade. A classificação correta orienta a seleção do método e do </a:t>
            </a:r>
            <a:pPr algn="l" indent="0" marL="0">
              <a:lnSpc>
                <a:spcPct val="106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tested party</a:t>
            </a:r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991" y="838126"/>
            <a:ext cx="1935956" cy="2946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41587" y="1176412"/>
            <a:ext cx="920651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Fabricante Pleno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741587" y="1317650"/>
            <a:ext cx="1788765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Assume todos os riscos produtivos e de mercado. Remuneração variável conforme desempenho.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947" y="838126"/>
            <a:ext cx="1936031" cy="2946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77543" y="1176412"/>
            <a:ext cx="1088454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Contract Manufacturer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3677543" y="1317650"/>
            <a:ext cx="1788840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Produz sob especificação da matriz. Risco limitado, remuneração baseada em </a:t>
            </a:r>
            <a:pPr algn="l" indent="0" marL="0">
              <a:lnSpc>
                <a:spcPct val="106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cost-plus</a:t>
            </a:r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978" y="838126"/>
            <a:ext cx="1936031" cy="2946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13574" y="1176412"/>
            <a:ext cx="1467743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Distribuidor de Risco Limitado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5613574" y="1317650"/>
            <a:ext cx="1788840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Revende produtos sem assumir risco de estoque ou preço. Remuneração fixa sobre vendas.</a:t>
            </a:r>
            <a:endParaRPr lang="en-US" sz="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991" y="1628254"/>
            <a:ext cx="5808018" cy="3252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246013"/>
            <a:ext cx="927274" cy="107752"/>
          </a:xfrm>
          <a:prstGeom prst="roundRect">
            <a:avLst>
              <a:gd name="adj" fmla="val 7555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891" y="272728"/>
            <a:ext cx="54248" cy="54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226" y="266328"/>
            <a:ext cx="1221879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TRANSAÇÕES INTERCOMPANY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897261" y="368573"/>
            <a:ext cx="350631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Tipos de Transações Intercompany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97261" y="636091"/>
            <a:ext cx="580667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transações entre partes relacionadas devem ser caracterizadas e documentadas individualmente.</a:t>
            </a:r>
            <a:endParaRPr lang="en-US" sz="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7261" y="761702"/>
            <a:ext cx="169590" cy="169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97261" y="977652"/>
            <a:ext cx="1269206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Compra e Venda de Produtos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1897261" y="1105942"/>
            <a:ext cx="2651522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Transferência de mercadorias entre entidades do grupo. Preço definido por método de TP.</a:t>
            </a:r>
            <a:endParaRPr lang="en-US" sz="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5143" y="761702"/>
            <a:ext cx="169590" cy="1695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95143" y="977652"/>
            <a:ext cx="86193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Serviços Intragrupo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4595143" y="1105942"/>
            <a:ext cx="265159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Serviços compartilhados (TI, RH, jurídico) com cobrança baseada em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test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7261" y="1348011"/>
            <a:ext cx="169590" cy="1695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97261" y="1563960"/>
            <a:ext cx="968722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Royalties e Intangíveis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1897261" y="1692250"/>
            <a:ext cx="2651522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de marcas, patentes e know-how. Remuneração via percentual sobre receita líquida.</a:t>
            </a:r>
            <a:endParaRPr lang="en-US" sz="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5143" y="1348011"/>
            <a:ext cx="169590" cy="1695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95143" y="1563960"/>
            <a:ext cx="984200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Operações Financeiras</a:t>
            </a:r>
            <a:endParaRPr lang="en-US" sz="650" dirty="0"/>
          </a:p>
        </p:txBody>
      </p:sp>
      <p:sp>
        <p:nvSpPr>
          <p:cNvPr id="18" name="Text 11"/>
          <p:cNvSpPr/>
          <p:nvPr/>
        </p:nvSpPr>
        <p:spPr>
          <a:xfrm>
            <a:off x="4595143" y="1692250"/>
            <a:ext cx="265159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Empréstimos, garantias e adiantamentos. Taxa de juros alinhada a benchmarks de mercado.</a:t>
            </a:r>
            <a:endParaRPr lang="en-US" sz="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7261" y="1901800"/>
            <a:ext cx="5349478" cy="29956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0107" y="246608"/>
            <a:ext cx="551483" cy="100310"/>
          </a:xfrm>
          <a:prstGeom prst="roundRect">
            <a:avLst>
              <a:gd name="adj" fmla="val 7652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8431" y="271165"/>
            <a:ext cx="51122" cy="511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65077" y="265733"/>
            <a:ext cx="855390" cy="62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MÉTODOS DE TP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2050107" y="360090"/>
            <a:ext cx="4536058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Métodos de Preço de Transferência — Visão Geral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050107" y="609377"/>
            <a:ext cx="5500985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Lei 14.596/2023</a:t>
            </a:r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adota os seis métodos da OCDE. A escolha considera disponibilidade de comparáveis, perfil funcional e natureza da transação.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2050107" y="723974"/>
            <a:ext cx="5043785" cy="1311325"/>
          </a:xfrm>
          <a:prstGeom prst="roundRect">
            <a:avLst>
              <a:gd name="adj" fmla="val 7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18866" y="753219"/>
            <a:ext cx="1082055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2876327" y="753219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Sigla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4134892" y="753219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Aplicação Típica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5896868" y="753219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PLI Principal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2118866" y="884486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Independente Comparado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2876327" y="884486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 / CUP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4134892" y="884486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Commodities e produtos com mercado ativo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5896868" y="884486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unitário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2118866" y="1093291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Preço de Revenda menos Lucro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2876327" y="1093291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PRL / RPM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4134892" y="1093291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Distribuidores de risco limitado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5896868" y="1093291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Mark-up sobre vendas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2118866" y="1302097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de Produção mais Lucro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2876327" y="1302097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MCL / CPM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4134892" y="1302097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 manufacturers e prestadores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5896868" y="1302097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Mark-up sobre custos</a:t>
            </a:r>
            <a:endParaRPr lang="en-US" sz="500" dirty="0"/>
          </a:p>
        </p:txBody>
      </p:sp>
      <p:sp>
        <p:nvSpPr>
          <p:cNvPr id="24" name="Text 21"/>
          <p:cNvSpPr/>
          <p:nvPr/>
        </p:nvSpPr>
        <p:spPr>
          <a:xfrm>
            <a:off x="2118866" y="1510903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Transacional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2876327" y="1510903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MLT / TNMM</a:t>
            </a:r>
            <a:endParaRPr lang="en-US" sz="500" dirty="0"/>
          </a:p>
        </p:txBody>
      </p:sp>
      <p:sp>
        <p:nvSpPr>
          <p:cNvPr id="26" name="Text 23"/>
          <p:cNvSpPr/>
          <p:nvPr/>
        </p:nvSpPr>
        <p:spPr>
          <a:xfrm>
            <a:off x="4134892" y="1510903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Entidades com funções simples</a:t>
            </a:r>
            <a:endParaRPr lang="en-US" sz="500" dirty="0"/>
          </a:p>
        </p:txBody>
      </p:sp>
      <p:sp>
        <p:nvSpPr>
          <p:cNvPr id="27" name="Text 24"/>
          <p:cNvSpPr/>
          <p:nvPr/>
        </p:nvSpPr>
        <p:spPr>
          <a:xfrm>
            <a:off x="5896868" y="1510903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EBIT / Vendas ou Custos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2118866" y="1719709"/>
            <a:ext cx="624855" cy="155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Dividida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2876327" y="1719709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MDL / NCPM</a:t>
            </a:r>
            <a:endParaRPr lang="en-US" sz="500" dirty="0"/>
          </a:p>
        </p:txBody>
      </p:sp>
      <p:sp>
        <p:nvSpPr>
          <p:cNvPr id="30" name="Text 27"/>
          <p:cNvSpPr/>
          <p:nvPr/>
        </p:nvSpPr>
        <p:spPr>
          <a:xfrm>
            <a:off x="4134892" y="1719709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com intangíveis valiosos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5896868" y="1719709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Margem líquida relativa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2118866" y="1928515"/>
            <a:ext cx="1082055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Divisão de Lucro</a:t>
            </a:r>
            <a:endParaRPr lang="en-US" sz="500" dirty="0"/>
          </a:p>
        </p:txBody>
      </p:sp>
      <p:sp>
        <p:nvSpPr>
          <p:cNvPr id="33" name="Text 30"/>
          <p:cNvSpPr/>
          <p:nvPr/>
        </p:nvSpPr>
        <p:spPr>
          <a:xfrm>
            <a:off x="2876327" y="1928515"/>
            <a:ext cx="1583159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PSM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4134892" y="1928515"/>
            <a:ext cx="208657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 elevada entre partes</a:t>
            </a:r>
            <a:endParaRPr lang="en-US" sz="500" dirty="0"/>
          </a:p>
        </p:txBody>
      </p:sp>
      <p:sp>
        <p:nvSpPr>
          <p:cNvPr id="35" name="Text 32"/>
          <p:cNvSpPr/>
          <p:nvPr/>
        </p:nvSpPr>
        <p:spPr>
          <a:xfrm>
            <a:off x="5896868" y="1928515"/>
            <a:ext cx="1585540" cy="7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 de lucro residual</a:t>
            </a:r>
            <a:endParaRPr lang="en-US" sz="5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107" y="2072357"/>
            <a:ext cx="5043785" cy="2824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219819"/>
            <a:ext cx="710729" cy="107752"/>
          </a:xfrm>
          <a:prstGeom prst="roundRect">
            <a:avLst>
              <a:gd name="adj" fmla="val 7555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891" y="246534"/>
            <a:ext cx="54248" cy="54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226" y="240134"/>
            <a:ext cx="1005334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ECONÔMICA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897261" y="342379"/>
            <a:ext cx="364331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Construção do Benchmarking e PLIs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97261" y="609898"/>
            <a:ext cx="534947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benchmarking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identifica faixas de remuneração de mercado para validar preços praticados. A escolha do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tested party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recai sobre a entidade com menor complexidade funcional.</a:t>
            </a:r>
            <a:endParaRPr lang="en-US" sz="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978" y="819448"/>
            <a:ext cx="4159969" cy="19038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77287" y="2271219"/>
            <a:ext cx="781004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IQR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693008" y="2271219"/>
            <a:ext cx="781005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Filtros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714078" y="2271219"/>
            <a:ext cx="781004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Busca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713750" y="2271219"/>
            <a:ext cx="781004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Escolha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897261" y="2765003"/>
            <a:ext cx="5349478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Interquartile Range (IQR)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delimita a faixa de conformidade entre o 25º (P25) e o 75º (P75) percentis. Resultados dentro do range indicam conformidade; fora, exigem ajuste.</a:t>
            </a:r>
            <a:endParaRPr lang="en-US" sz="500" dirty="0"/>
          </a:p>
        </p:txBody>
      </p:sp>
      <p:sp>
        <p:nvSpPr>
          <p:cNvPr id="13" name="Shape 9"/>
          <p:cNvSpPr/>
          <p:nvPr/>
        </p:nvSpPr>
        <p:spPr>
          <a:xfrm>
            <a:off x="1848371" y="2974553"/>
            <a:ext cx="2689771" cy="1949053"/>
          </a:xfrm>
          <a:prstGeom prst="roundRect">
            <a:avLst>
              <a:gd name="adj" fmla="val 522"/>
            </a:avLst>
          </a:prstGeom>
          <a:solidFill>
            <a:srgbClr val="403CCF"/>
          </a:solidFill>
          <a:ln/>
        </p:spPr>
      </p:sp>
      <p:sp>
        <p:nvSpPr>
          <p:cNvPr id="14" name="Text 10"/>
          <p:cNvSpPr/>
          <p:nvPr/>
        </p:nvSpPr>
        <p:spPr>
          <a:xfrm>
            <a:off x="1916162" y="3011612"/>
            <a:ext cx="13051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Principais PLIs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916162" y="3154710"/>
            <a:ext cx="2554188" cy="37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EBIT Margin: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EBIT ÷ Receita Líquida</a:t>
            </a:r>
            <a:endParaRPr lang="en-US" sz="5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Cost-Plus Mark-up: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EBIT ÷ Custos Totais</a:t>
            </a:r>
            <a:endParaRPr lang="en-US" sz="5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Berry Ratio: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Receita Bruta ÷ Custos Operacionais</a:t>
            </a:r>
            <a:endParaRPr lang="en-US" sz="5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 on Assets: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EBIT ÷ Ativos Totais</a:t>
            </a:r>
            <a:endParaRPr lang="en-US" sz="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511" y="3016225"/>
            <a:ext cx="2591991" cy="18657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7261" y="227707"/>
            <a:ext cx="611907" cy="107752"/>
          </a:xfrm>
          <a:prstGeom prst="roundRect">
            <a:avLst>
              <a:gd name="adj" fmla="val 7555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891" y="254422"/>
            <a:ext cx="54248" cy="54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9226" y="248022"/>
            <a:ext cx="906512" cy="67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DOCUMENTAÇÃO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897261" y="350267"/>
            <a:ext cx="399335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Estrutura Documental — BEPS Action 13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897261" y="617786"/>
            <a:ext cx="580667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documentação de TP segue o padrão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BEPS Action 13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composto por três pilares: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File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File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Country-by-Country Report</a:t>
            </a:r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1897261" y="1310878"/>
            <a:ext cx="5349478" cy="9525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8" name="Shape 5"/>
          <p:cNvSpPr/>
          <p:nvPr/>
        </p:nvSpPr>
        <p:spPr>
          <a:xfrm>
            <a:off x="2948360" y="1107467"/>
            <a:ext cx="9525" cy="203448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9" name="Shape 6"/>
          <p:cNvSpPr/>
          <p:nvPr/>
        </p:nvSpPr>
        <p:spPr>
          <a:xfrm>
            <a:off x="2876848" y="1234567"/>
            <a:ext cx="152623" cy="1526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2260" y="1259979"/>
            <a:ext cx="101724" cy="101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29260" y="743396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 File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1965052" y="871686"/>
            <a:ext cx="19763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de TP por país: análise funcional, métodos, benchmarking e PLIs. Prazo: entrega com a </a:t>
            </a:r>
            <a:pPr algn="ctr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ECF</a:t>
            </a:r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(julho).</a:t>
            </a:r>
            <a:endParaRPr lang="en-US" sz="500" dirty="0"/>
          </a:p>
        </p:txBody>
      </p:sp>
      <p:sp>
        <p:nvSpPr>
          <p:cNvPr id="13" name="Shape 9"/>
          <p:cNvSpPr/>
          <p:nvPr/>
        </p:nvSpPr>
        <p:spPr>
          <a:xfrm>
            <a:off x="4027512" y="1310841"/>
            <a:ext cx="9525" cy="203448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14" name="Shape 10"/>
          <p:cNvSpPr/>
          <p:nvPr/>
        </p:nvSpPr>
        <p:spPr>
          <a:xfrm>
            <a:off x="3956000" y="1234567"/>
            <a:ext cx="152623" cy="1526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81413" y="1259979"/>
            <a:ext cx="101724" cy="101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08412" y="1582192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Master File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3044205" y="1710482"/>
            <a:ext cx="19763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Visão global: estrutura do grupo, cadeia de valor, intangíveis e política financeira. Disponível para a Receita Federal.</a:t>
            </a:r>
            <a:endParaRPr lang="en-US" sz="500" dirty="0"/>
          </a:p>
        </p:txBody>
      </p:sp>
      <p:sp>
        <p:nvSpPr>
          <p:cNvPr id="18" name="Shape 13"/>
          <p:cNvSpPr/>
          <p:nvPr/>
        </p:nvSpPr>
        <p:spPr>
          <a:xfrm>
            <a:off x="5106665" y="1107467"/>
            <a:ext cx="9525" cy="203448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19" name="Shape 14"/>
          <p:cNvSpPr/>
          <p:nvPr/>
        </p:nvSpPr>
        <p:spPr>
          <a:xfrm>
            <a:off x="5035153" y="1234567"/>
            <a:ext cx="152623" cy="1526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0566" y="1259979"/>
            <a:ext cx="101724" cy="101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87565" y="743396"/>
            <a:ext cx="847948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ECF / CbCR</a:t>
            </a:r>
            <a:endParaRPr lang="en-US" sz="650" dirty="0"/>
          </a:p>
        </p:txBody>
      </p:sp>
      <p:sp>
        <p:nvSpPr>
          <p:cNvPr id="22" name="Text 16"/>
          <p:cNvSpPr/>
          <p:nvPr/>
        </p:nvSpPr>
        <p:spPr>
          <a:xfrm>
            <a:off x="4123358" y="871686"/>
            <a:ext cx="197636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Declaração fiscal brasileira com dados consolidados do grupo. Integração com obrigações acessórias do Fisco.</a:t>
            </a:r>
            <a:endParaRPr lang="en-US" sz="500" dirty="0"/>
          </a:p>
        </p:txBody>
      </p:sp>
      <p:sp>
        <p:nvSpPr>
          <p:cNvPr id="23" name="Shape 17"/>
          <p:cNvSpPr/>
          <p:nvPr/>
        </p:nvSpPr>
        <p:spPr>
          <a:xfrm>
            <a:off x="6185892" y="1310841"/>
            <a:ext cx="9525" cy="203448"/>
          </a:xfrm>
          <a:prstGeom prst="roundRect">
            <a:avLst>
              <a:gd name="adj" fmla="val 106831"/>
            </a:avLst>
          </a:prstGeom>
          <a:solidFill>
            <a:srgbClr val="D0CED9"/>
          </a:solidFill>
          <a:ln/>
        </p:spPr>
      </p:sp>
      <p:sp>
        <p:nvSpPr>
          <p:cNvPr id="24" name="Shape 18"/>
          <p:cNvSpPr/>
          <p:nvPr/>
        </p:nvSpPr>
        <p:spPr>
          <a:xfrm>
            <a:off x="6114380" y="1234567"/>
            <a:ext cx="152623" cy="152623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9793" y="1259979"/>
            <a:ext cx="101724" cy="1017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17443" y="1582192"/>
            <a:ext cx="1146497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Governança e Compliance</a:t>
            </a:r>
            <a:endParaRPr lang="en-US" sz="650" dirty="0"/>
          </a:p>
        </p:txBody>
      </p:sp>
      <p:sp>
        <p:nvSpPr>
          <p:cNvPr id="27" name="Text 20"/>
          <p:cNvSpPr/>
          <p:nvPr/>
        </p:nvSpPr>
        <p:spPr>
          <a:xfrm>
            <a:off x="5202510" y="1710482"/>
            <a:ext cx="1976437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Controles internos, interação entre áreas (fiscal, controladoria, jurídico) e monitoramento contínuo de red flags.</a:t>
            </a:r>
            <a:endParaRPr lang="en-US" sz="5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7261" y="1920032"/>
            <a:ext cx="5349478" cy="29956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4414" y="263426"/>
            <a:ext cx="624557" cy="115416"/>
          </a:xfrm>
          <a:prstGeom prst="roundRect">
            <a:avLst>
              <a:gd name="adj" fmla="val 7456"/>
            </a:avLst>
          </a:prstGeom>
          <a:solidFill>
            <a:srgbClr val="D7D6F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426" y="292447"/>
            <a:ext cx="57299" cy="57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3374" y="284931"/>
            <a:ext cx="909786" cy="7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ENCERRAMENTO</a:t>
            </a:r>
            <a:endParaRPr lang="en-US" sz="450" dirty="0"/>
          </a:p>
        </p:txBody>
      </p:sp>
      <p:sp>
        <p:nvSpPr>
          <p:cNvPr id="5" name="Text 2"/>
          <p:cNvSpPr/>
          <p:nvPr/>
        </p:nvSpPr>
        <p:spPr>
          <a:xfrm>
            <a:off x="1744414" y="395362"/>
            <a:ext cx="3719587" cy="224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Principais Riscos e Próximos Passos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44414" y="681558"/>
            <a:ext cx="6112371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os </a:t>
            </a:r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 flags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que podem gerar autuações e garanta uma governança robusta de TP no Grupo JBS.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4889" y="818704"/>
            <a:ext cx="1866900" cy="570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54175" y="899889"/>
            <a:ext cx="1245989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Inconsistência Operacional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854175" y="1036811"/>
            <a:ext cx="1666429" cy="181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Discrepância entre análise funcional e realidade operacional gera questionamentos fiscais.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3713" y="818704"/>
            <a:ext cx="1866974" cy="5709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52999" y="899889"/>
            <a:ext cx="964034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Benchmarking Fraco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3752999" y="1036811"/>
            <a:ext cx="1666503" cy="27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de comparáveis insuficiente ou filtros mal aplicados comprometem a defesa em fiscalização.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2611" y="818704"/>
            <a:ext cx="1866900" cy="5709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51897" y="899889"/>
            <a:ext cx="1076176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Falta de Documentação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5651897" y="1036811"/>
            <a:ext cx="1666429" cy="181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Ausência de Local File ou Master File atualizado expõe o grupo a multas e ajustes.</a:t>
            </a:r>
            <a:endParaRPr lang="en-US" sz="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4414" y="1436266"/>
            <a:ext cx="5655171" cy="316683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51943" y="4696271"/>
            <a:ext cx="6004843" cy="9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Mensagem-chave:</a:t>
            </a:r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TP é uma disciplina estratégica. Invista em análise funcional robusta, benchmarking de qualidade e documentação completa.</a:t>
            </a:r>
            <a:endParaRPr lang="en-US" sz="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77976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2026-06-11T14:50:34Z</dcterms:created>
  <dcterms:modified xsi:type="dcterms:W3CDTF">2026-06-11T14:50:34Z</dcterms:modified>
</cp:coreProperties>
</file>