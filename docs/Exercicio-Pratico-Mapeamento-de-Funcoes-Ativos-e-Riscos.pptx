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tthornton.com.br/en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sv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sv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sv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sv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sv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sv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sv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sv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svg"/><Relationship Id="rId34" Type="http://schemas.openxmlformats.org/officeDocument/2006/relationships/image" Target="../media/image-12-34.png"/><Relationship Id="rId35" Type="http://schemas.openxmlformats.org/officeDocument/2006/relationships/slideLayout" Target="../slideLayouts/slideLayout2.xml"/><Relationship Id="rId3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64580"/>
            <a:ext cx="2653341" cy="195461"/>
          </a:xfrm>
          <a:prstGeom prst="roundRect">
            <a:avLst>
              <a:gd name="adj" fmla="val 7108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31025" y="799306"/>
            <a:ext cx="3124023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AVANÇADO EM PREÇO DE TRANSFERÊNCIA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574" y="992386"/>
            <a:ext cx="9350240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Exercício Prático: Mapeamento de Funções, Ativos e Riscos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574" y="1475680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delineamento das transações intercompany começa pelo mapeamento rigoroso de funções, ativos e riscos (FAR). Este exercício prático apresenta um mini caso para aplicação do framework FAR em uma operação real entre partes relacionadas.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574" y="1881684"/>
            <a:ext cx="10868547" cy="675977"/>
          </a:xfrm>
          <a:prstGeom prst="roundRect">
            <a:avLst>
              <a:gd name="adj" fmla="val 2569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60" y="2032893"/>
            <a:ext cx="144657" cy="1156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7604" y="1983482"/>
            <a:ext cx="10376831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 Caso — Indústria Farmacêutica: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PharmaCo Brasil Ltda.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(distribuidora brasileira, subsidiária integral da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PharmaCo Global Inc.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matriz nos EUA) adquire princípios ativos e produtos acabados da matriz, revende a hospitais e distribuidores independentes no Brasil, e paga royalties pelo uso de patentes e know-how. A matriz realiza P&amp;D, detém as patentes e define a estratégia global. A subsidiária executa distribuição, marketing local e suporte regulatório à ANVISA.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574" y="2679204"/>
            <a:ext cx="5014985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Framework FAR — Análise das Partes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090168"/>
            <a:ext cx="5393793" cy="2155726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1656" y="3189585"/>
            <a:ext cx="173628" cy="1736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9960" y="3531096"/>
            <a:ext cx="284830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PharmaCo Global Inc. — Matriz (EUA)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89960" y="3760589"/>
            <a:ext cx="5137021" cy="1199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Funções:</a:t>
            </a:r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P&amp;D de novos fármacos; registro e manutenção de patentes; definição de estratégia global de preços; controle de qualidade global; gestão de propriedade intelectual; aprovação de especificações técnicas.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Ativos:</a:t>
            </a:r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Patentes, marcas registradas, know-how tecnológico, instalações de P&amp;D, sistemas de ERP globais, equipe científica especializada.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Risco de P&amp;D (falha em ensaios clínicos); risco de mercado global; risco regulatório internacional; risco de obsolescência tecnológica; risco cambial nas receitas consolidadas.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6328" y="3090168"/>
            <a:ext cx="5393793" cy="2155726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46410" y="3189585"/>
            <a:ext cx="173628" cy="1736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64714" y="3531096"/>
            <a:ext cx="274273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PharmaCo Brasil Ltda. — Subsidiária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6264714" y="3760589"/>
            <a:ext cx="5137021" cy="135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Funções:</a:t>
            </a:r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Importação e armazenagem de produtos; distribuição para canais independentes; marketing e promoção local; suporte a registros na ANVISA; gestão de estoques locais; cobrança e crédito a clientes.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Ativos:</a:t>
            </a:r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Centro de distribuição, frota logística, sistemas locais de gestão, equipe comercial e regulatória, contratos com distribuidores independentes.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Risco de crédito (inadimplência de clientes); risco de estoque (validade e obsolescência); risco cambial nas importações; risco regulatório local (ANVISA); risco de margem operacional.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61574" y="5367437"/>
            <a:ext cx="3387541" cy="2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Conclusão do Exercício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61574" y="5778401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mapeamento FAR é a base para selecionar o método de TP mais adequado, identificar a parte testada e definir o nível de remuneração esperado. Neste caso, a subsidiária brasileira assume funções de distribuidora de risco limitado, sugerindo métodos baseados em margem líquida (MCL) ou preço de revenda (PRL) como os mais apropriados para a análise de conformidade.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17823"/>
            <a:ext cx="2639351" cy="263525"/>
          </a:xfrm>
          <a:prstGeom prst="roundRect">
            <a:avLst>
              <a:gd name="adj" fmla="val 640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258" y="566341"/>
            <a:ext cx="3067569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 DE PREÇO DE TRANSFERÊNCIA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574" y="829072"/>
            <a:ext cx="8218282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Conceito de Delineamento das Transações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574" y="1447502"/>
            <a:ext cx="1086854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delineamento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(ou </a:t>
            </a:r>
            <a:pPr algn="l" indent="0" marL="0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accurately delineating the transaction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conforme as Diretrizes da OCDE) é o processo sistemático de identificação e análise das condições reais de uma transação entre partes relacionadas. É o ponto de partida obrigatório de qualquer estudo de preço de transferência e determina a validade técnica de toda a análise subsequente.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0373" y="2206030"/>
            <a:ext cx="5465229" cy="4134048"/>
          </a:xfrm>
          <a:prstGeom prst="roundRect">
            <a:avLst>
              <a:gd name="adj" fmla="val 510"/>
            </a:avLst>
          </a:prstGeom>
          <a:solidFill>
            <a:srgbClr val="403CCF"/>
          </a:solidFill>
          <a:ln/>
        </p:spPr>
      </p:sp>
      <p:sp>
        <p:nvSpPr>
          <p:cNvPr id="7" name="Text 5"/>
          <p:cNvSpPr/>
          <p:nvPr/>
        </p:nvSpPr>
        <p:spPr>
          <a:xfrm>
            <a:off x="700864" y="2325489"/>
            <a:ext cx="388957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 que o Delineamento é Essencial?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0864" y="2664520"/>
            <a:ext cx="518424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 um delineamento correto, a seleção do método, a escolha dos comparáveis e a determinação do intervalo de preço/arm's length tornam-se tecnicamente inválidos. A Receita Federal do Brasil e as autoridades internacionais (OCDE, BEPS) exigem que o delineamento reflita a realidade econômica — não apenas a forma jurídica dos contratos.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Plano de Ação 8 do BEPS reforçou que as transações devem ser delineadas com base na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substância econômica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 não apenas nos termos contratuais formais.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3643" y="2325489"/>
            <a:ext cx="349439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Componentes do Delineamento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73643" y="2664520"/>
            <a:ext cx="5262828" cy="228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das partes relacionadas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da estrutura do grupo multinacional</a:t>
            </a:r>
            <a:endParaRPr lang="en-US" sz="11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FAR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(Funções, Ativos e Riscos) de cada parte envolvida</a:t>
            </a:r>
            <a:endParaRPr lang="en-US" sz="11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Caracterização da transação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natureza, objeto, volume, periodicidade e condições comerciais</a:t>
            </a:r>
            <a:endParaRPr lang="en-US" sz="11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contratual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termos formais vs. conduta real das partes</a:t>
            </a:r>
            <a:endParaRPr lang="en-US" sz="11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alternativas comercialmente racionais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(economically rational alternatives)</a:t>
            </a:r>
            <a:endParaRPr lang="en-US" sz="1100" dirty="0"/>
          </a:p>
          <a:p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transações combinadas</a:t>
            </a:r>
            <a:pPr algn="l" marL="342900" indent="-34290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quando houver interdependência econômica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3643" y="5088334"/>
            <a:ext cx="5262828" cy="1117402"/>
          </a:xfrm>
          <a:prstGeom prst="roundRect">
            <a:avLst>
              <a:gd name="adj" fmla="val 1887"/>
            </a:avLst>
          </a:prstGeom>
          <a:solidFill>
            <a:srgbClr val="C3C2F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3" y="5299770"/>
            <a:ext cx="175712" cy="1404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30336" y="5230912"/>
            <a:ext cx="4665645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Atenção: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Instrução Normativa RFB nº 2.132/2023 (nova legislação brasileira de TP) mantém a exigência de documentação que comprove o delineamento das operações, alinhando-se progressivamente às Diretrizes da OCDE.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39465"/>
            <a:ext cx="1660384" cy="250825"/>
          </a:xfrm>
          <a:prstGeom prst="roundRect">
            <a:avLst>
              <a:gd name="adj" fmla="val 672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45908" y="681633"/>
            <a:ext cx="2101301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TIPOLOGIA DAS OPERAÇÕES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574" y="938014"/>
            <a:ext cx="8711486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Caracterização das Transações Intercompany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574" y="1556445"/>
            <a:ext cx="1086854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transações entre partes relacionadas podem ser classificadas em quatro grandes categorias, cada uma com características econômicas, métodos de precificação e desafios documentais distintos. A correta caracterização é pré-requisito para a seleção do método de TP adequado.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106910"/>
            <a:ext cx="351424" cy="3514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574" y="2607667"/>
            <a:ext cx="262962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Compra e Venda de Produtos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574" y="2898874"/>
            <a:ext cx="5359564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Transferência de bens tangíveis entre partes relacionadas: matérias-primas, produtos semiacabados, produtos acabados e mercadorias para revenda. Inclui operações de importação e exportação intragrupo. Métodos comuns: PIC, PRL, CUP, MCL. Exige análise de condições de entrega (Incoterms), garantias, prazos de pagamento e políticas de desconto.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458" y="2106910"/>
            <a:ext cx="351424" cy="3514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0458" y="2607667"/>
            <a:ext cx="178589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Intragrupo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170458" y="2898874"/>
            <a:ext cx="5359663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Prestação de serviços administrativos, técnicos, gerenciais ou de suporte entre empresas do mesmo grupo. Inclui serviços compartilhados (shared services), assistência técnica, gestão centralizada e alocação de custos. Métodos comuns: CUSTO +, MCL. Exige comprovação de benefício efetivo (</a:t>
            </a:r>
            <a:pPr algn="l" indent="0" marL="0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test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e ausência de duplicidade de encargos.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574" y="4178102"/>
            <a:ext cx="351424" cy="3514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574" y="4678859"/>
            <a:ext cx="313821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 e Propriedade Intelectual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61574" y="4970066"/>
            <a:ext cx="5359564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Remuneração pelo uso de ativos intangíveis: patentes, marcas, know-how, direitos autorais, software e licenças de tecnologia. Transações de alta complexidade que exigem análise detalhada do desenvolvimento, aprimoramento, manutenção, proteção e exploração dos intangíveis (DEMPE functions). Métodos: VALOR DE REVENDA, MCL, CUP.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0458" y="4178102"/>
            <a:ext cx="351424" cy="3514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0458" y="4678859"/>
            <a:ext cx="203909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Financeiras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170458" y="4970066"/>
            <a:ext cx="5359663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Empréstimos, financiamentos, adiantamentos, garantias, derivativos e outras operações de natureza financeira entre partes relacionadas. Exige análise de rating de crédito, condições de mercado, moeda, prazo e garantias reais. Métodos: taxa de juros de mercado (CUP), spread bancário. A nova legislação brasileira (IN RFB 2.132/2023) trouxe regras específicas para operações financeiras.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456605"/>
            <a:ext cx="1586071" cy="244475"/>
          </a:xfrm>
          <a:prstGeom prst="roundRect">
            <a:avLst>
              <a:gd name="adj" fmla="val 649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7297" y="502642"/>
            <a:ext cx="20242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DE PRODUTOS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743347"/>
            <a:ext cx="9973021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Compra e Venda de Produtos entre Partes Relacionadas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315541"/>
            <a:ext cx="108685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operações de compra e venda de produtos tangíveis são as mais frequentes em estruturas multinacionais. A precificação adequada deve refletir as condições que seriam praticadas entre partes independentes em transações comparáveis (</a:t>
            </a:r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 principle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574" y="1921371"/>
            <a:ext cx="337117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Exemplos Práticos de Operações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525" y="2247106"/>
            <a:ext cx="2602641" cy="19647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0027" y="2398415"/>
            <a:ext cx="222383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Importação de Matéria-Prima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0027" y="2917527"/>
            <a:ext cx="22238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Subsidiária brasileira importa insumos da matriz estrangeira para industrialização local. Preço de transferência impacta o custo de produção e a margem bruta da operação nacional.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1881" y="2247106"/>
            <a:ext cx="2602641" cy="19647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9384" y="2398415"/>
            <a:ext cx="222383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Exportação de Produto Acabado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59384" y="2917527"/>
            <a:ext cx="22238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Fabricante brasileiro exporta produto final para distribuidora relacionada no exterior. O preço de exportação determina a margem auferida no Brasil e o lucro tributável local.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525" y="4317603"/>
            <a:ext cx="2602641" cy="19647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0027" y="4468912"/>
            <a:ext cx="222383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Compra para Revenda (Trading)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70027" y="4988024"/>
            <a:ext cx="22238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 brasileira adquire mercadorias de controlada estrangeira e as revende sem transformação a clientes independentes. Método PRL frequentemente aplicado.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1881" y="4317603"/>
            <a:ext cx="2602641" cy="19647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59384" y="4468912"/>
            <a:ext cx="222383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Transferência de Semiacabados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559384" y="4988024"/>
            <a:ext cx="22238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 do grupo fabrica componentes semiacabados e os transfere a outra empresa do grupo para montagem final. Exige análise de valor agregado em cada etapa.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263523" y="1921371"/>
            <a:ext cx="37066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Fatores Críticos de Comparabilidade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63523" y="2233811"/>
            <a:ext cx="5272948" cy="1862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Características do produto: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especificações técnicas, qualidade, marca, embalagem e diferenciais competitivos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exercidas: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quem assume riscos de estoque, crédito, câmbio e garantia?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Termos contratuais: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Incoterms, prazo de entrega, condições de pagamento e políticas de desconto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Condições de mercado: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volume transacionado, sazonalidade, exclusividade e território de atuação</a:t>
            </a:r>
            <a:endParaRPr lang="en-US" sz="10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Ajustes de comparabilidade: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diferenças de volume, prazo, garantias e condições comerciais entre a transação controlada e as comparáveis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523" y="4215408"/>
            <a:ext cx="5272948" cy="1018580"/>
          </a:xfrm>
          <a:prstGeom prst="roundRect">
            <a:avLst>
              <a:gd name="adj" fmla="val 1948"/>
            </a:avLst>
          </a:prstGeom>
          <a:solidFill>
            <a:srgbClr val="FCF2B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778" y="4410968"/>
            <a:ext cx="165294" cy="1322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93328" y="4343698"/>
            <a:ext cx="47108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Ponto de Atenção: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ausência de comparáveis internos não impede a aplicação dos métodos. Comparáveis externos (bases de dados como Bloomberg, RoyaltyStat, Orbis) são amplamente utilizados, desde que devidamente ajustados.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01166"/>
            <a:ext cx="1511163" cy="213320"/>
          </a:xfrm>
          <a:prstGeom prst="roundRect">
            <a:avLst>
              <a:gd name="adj" fmla="val 6978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35986" y="638373"/>
            <a:ext cx="1971923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COMPARTILHADOS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574" y="851694"/>
            <a:ext cx="9422867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Intragrupo: Tipologia, Benefício e Precificação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574" y="1378843"/>
            <a:ext cx="1086854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serviços intragrupo representam uma das áreas de maior escrutínio pelas autoridades fiscais. A cobrança de serviços entre empresas do mesmo grupo deve observar três requisitos fundamentais: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existência real do serviço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benefício efetivo ao tomador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remuneração em condições de mercado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574" y="1830685"/>
            <a:ext cx="3560872" cy="1495921"/>
          </a:xfrm>
          <a:prstGeom prst="roundRect">
            <a:avLst>
              <a:gd name="adj" fmla="val 1244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85594" y="1954709"/>
            <a:ext cx="196587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Administrativos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5594" y="2204244"/>
            <a:ext cx="3312831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Contabilidade e controladoria compartilhada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folha de pagamento e RH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Jurídico e compliance corporativo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Tecnologia da informação (TI)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 interna e controles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412" y="1830685"/>
            <a:ext cx="3560872" cy="1495921"/>
          </a:xfrm>
          <a:prstGeom prst="roundRect">
            <a:avLst>
              <a:gd name="adj" fmla="val 1244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4439432" y="1954709"/>
            <a:ext cx="272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Técnicos e Especializados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9432" y="2204244"/>
            <a:ext cx="3312831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Assistência técnica e engenharia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a processos industriais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e capacitação de pessoal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 de mercado e inteligência comercial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regulatório e ambiental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69249" y="1830685"/>
            <a:ext cx="3560872" cy="1495921"/>
          </a:xfrm>
          <a:prstGeom prst="roundRect">
            <a:avLst>
              <a:gd name="adj" fmla="val 1244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8093269" y="1954709"/>
            <a:ext cx="239468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de Gestão Estratégica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3269" y="2204244"/>
            <a:ext cx="3312831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estratégico corporativo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tesouraria centralizada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institucional e branding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Relações com investidores (RI)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Governança corporativa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2279" y="3431183"/>
            <a:ext cx="5461558" cy="2825651"/>
          </a:xfrm>
          <a:prstGeom prst="roundRect">
            <a:avLst>
              <a:gd name="adj" fmla="val 658"/>
            </a:avLst>
          </a:prstGeom>
          <a:solidFill>
            <a:srgbClr val="403CCF"/>
          </a:solidFill>
          <a:ln/>
        </p:spPr>
      </p:sp>
      <p:sp>
        <p:nvSpPr>
          <p:cNvPr id="16" name="Text 14"/>
          <p:cNvSpPr/>
          <p:nvPr/>
        </p:nvSpPr>
        <p:spPr>
          <a:xfrm>
            <a:off x="696300" y="3524151"/>
            <a:ext cx="315527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Teste de Benefício (Benefit Test)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300" y="3810893"/>
            <a:ext cx="5213517" cy="129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OCDE e a legislação brasileira exigem que o serviço prestado gere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benefício econômico real e identificável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 empresa tomadora. Serviços que apenas replicam atividades que a tomadora já realiza internamente, ou que beneficiam exclusivamente a prestadora, não são dedutíveis.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test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 ser documentado com evidências concretas: atas de reunião, relatórios entregues, e-mails de solicitação, métricas de utilização e análise de alternativas (o que a tomadora faria sem o serviço?).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53502" y="3524151"/>
            <a:ext cx="317819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Métodos de Cobrança Aplicáveis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3502" y="3810893"/>
            <a:ext cx="5282969" cy="148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Direto + Markup: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identificação dos custos diretos do serviço e aplicação de margem de lucro (tipicamente 5% a 15%, conforme o risco assumido)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Total + Markup: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inclui rateio de custos indiretos e overhead; exige metodologia de rateio robusta e documentada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Fixo por Unidade: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quando há volume mensurável (ex.: número de usuários de sistema, horas de suporte)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MCL (Margem Líquida):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comparação da margem operacional da prestadora com empresas independentes comparáveis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3502" y="5402163"/>
            <a:ext cx="5282969" cy="750094"/>
          </a:xfrm>
          <a:prstGeom prst="roundRect">
            <a:avLst>
              <a:gd name="adj" fmla="val 2481"/>
            </a:avLst>
          </a:prstGeom>
          <a:solidFill>
            <a:srgbClr val="C3C2F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522" y="5581948"/>
            <a:ext cx="154976" cy="12402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56519" y="5516761"/>
            <a:ext cx="47559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RFB nº 2.132/2023: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nova regulamentação brasileira manteve a exigência de comprovação do benefício e introduziu maior alinhamento com as Diretrizes da OCDE para serviços intragrupo.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07603"/>
            <a:ext cx="1308663" cy="221754"/>
          </a:xfrm>
          <a:prstGeom prst="roundRect">
            <a:avLst>
              <a:gd name="adj" fmla="val 6608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6075" y="550565"/>
            <a:ext cx="1759104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INTANGÍVEIS E FINANÇAS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46503" y="765373"/>
            <a:ext cx="10209652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Royalties, Empréstimos e Garantias entre Partes Relacionadas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6503" y="1282105"/>
            <a:ext cx="10698689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transações envolvendo ativos intangíveis e operações financeiras estão entre as mais complexas em preço de transferência, exigindo análise aprofundada das funções DEMPE, do rating de crédito e das condições de mercado específicas.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6503" y="1813123"/>
            <a:ext cx="33347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 e Propriedade Intelectual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6503" y="2093913"/>
            <a:ext cx="5200421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pagamento de royalties remunera o uso de ativos intangíveis desenvolvidos, mantidos ou protegidos por outra empresa do grupo. A análise deve considerar as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DEMPE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(Desenvolvimento, Aprimoramento, Manutenção, Proteção e Exploração) para identificar quem realmente cria e controla o valor do intangível.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6503" y="2854027"/>
            <a:ext cx="5200421" cy="128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Patentes e Know-how: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remuneração por tecnologia, processos exclusivos e segredos industriais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Marcas e Licenças: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uso de marca global, licenças de software e direitos de distribuição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aplicáveis: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CUP (comparáveis de licenças independentes), Valor de Revenda, MCL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dados de referência: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RoyaltyStat, ktMINE, IPlytics para identificação de taxas de mercado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6503" y="4238427"/>
            <a:ext cx="5200421" cy="732334"/>
          </a:xfrm>
          <a:prstGeom prst="roundRect">
            <a:avLst>
              <a:gd name="adj" fmla="val 2501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539" y="4411067"/>
            <a:ext cx="152595" cy="12203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170" y="4349948"/>
            <a:ext cx="4681718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Plano de Ação 8 do BEPS: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Introduziu regras rigorosas para alocação de lucros relacionados a intangíveis, exigindo que a remuneração acompanhe a substância econômica (funções DEMPE) e não apenas a titularidade legal.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51121" y="1813123"/>
            <a:ext cx="3276816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Financeiras Intragrupo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51121" y="2093913"/>
            <a:ext cx="5200421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Empréstimos, financiamentos e garantias entre partes relacionadas devem ser precificados com base em condições que seriam obtidas no mercado independente, considerando o perfil de risco do tomador.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51121" y="2684264"/>
            <a:ext cx="5200421" cy="182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Rating: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determinação do rating implícito do tomador (standalone vs. suporte do grupo) e impacto na taxa de juros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Taxa de Juros de Mercado: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uso de referências como SOFR, EURIBOR, CDI + spread, conforme moeda e prazo da operação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Garantias e Aval: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garantias prestadas por empresas do grupo podem reduzir o spread; a contraprestação pela garantia deve ser analisada separadamente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 Capitalization: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limites de dedutibilidade de juros conforme a legislação brasileira (relação dívida/patrimônio)</a:t>
            </a:r>
            <a:endParaRPr lang="en-US" sz="95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Derivativos: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swaps, forwards e opções intragrupo exigem análise de hedge accounting e precificação por modelos reconhecidos (Black-Scholes, Monte Carlo)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82856" y="5234583"/>
            <a:ext cx="2618317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1728943" y="5766098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Ações BEPS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6503" y="6010870"/>
            <a:ext cx="3491123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Plano de Ação 8-10 da OCDE trata especificamente de intangíveis, riscos e operações financeiras em TP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86590" y="5234583"/>
            <a:ext cx="2618317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2.132</a:t>
            </a:r>
            <a:endParaRPr lang="en-US" sz="3150" dirty="0"/>
          </a:p>
        </p:txBody>
      </p:sp>
      <p:sp>
        <p:nvSpPr>
          <p:cNvPr id="19" name="Text 16"/>
          <p:cNvSpPr/>
          <p:nvPr/>
        </p:nvSpPr>
        <p:spPr>
          <a:xfrm>
            <a:off x="5332676" y="5766098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RFB/2023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50236" y="6010870"/>
            <a:ext cx="3491123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 instrução normativa brasileira com regras atualizadas para operações financeiras e intangíveis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390323" y="5234583"/>
            <a:ext cx="2618317" cy="402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8936409" y="5766098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 DEMPE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53970" y="6010870"/>
            <a:ext cx="3491123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Desenvolvimento, Aprimoramento, Manutenção, Proteção e Exploração — base para alocação de lucros de intangíveis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120" y="463252"/>
            <a:ext cx="1643815" cy="160734"/>
          </a:xfrm>
          <a:prstGeom prst="roundRect">
            <a:avLst>
              <a:gd name="adj" fmla="val 739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1145551" y="492919"/>
            <a:ext cx="2134539" cy="101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DE PREÇO DE TRANSFERÊNCIA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086120" y="647700"/>
            <a:ext cx="4560773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Visão Geral dos Métodos de TP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6120" y="1046361"/>
            <a:ext cx="1001945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legislação brasileira (Lei nº 12.715/2012 e IN RFB nº 2.132/2023) e as Diretrizes da OCDE reconhecem métodos tradicionais de transação e métodos transacionais de lucro. A seleção do método mais adequado depende da natureza da transação, da disponibilidade de informações e do nível de comparabilidade alcançável.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86120" y="1366738"/>
            <a:ext cx="10019454" cy="1779588"/>
          </a:xfrm>
          <a:prstGeom prst="roundRect">
            <a:avLst>
              <a:gd name="adj" fmla="val 83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1687" y="1415058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996034" y="1415058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Sigla / Categoria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97444" y="1415058"/>
            <a:ext cx="3907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Típica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99778" y="1415058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 de Lucro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91687" y="1632148"/>
            <a:ext cx="1599962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Preços Independentes Comparados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96034" y="1632148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 / CUP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97444" y="1632148"/>
            <a:ext cx="329794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Compra/venda de produtos, royalties, serviços com comparáveis diretos disponíveis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99778" y="1632148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unitário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91687" y="1976041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de Revenda menos Lucro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96034" y="1976041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PRL / RPM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97444" y="1976041"/>
            <a:ext cx="3907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Distribuidores e revendedores que não transformam o produto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699778" y="1976041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bruta sobre preço de revenda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91687" y="2193131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de Produção mais Lucro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996034" y="2193131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CPL / CPM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97444" y="2193131"/>
            <a:ext cx="3907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Fabricantes que vendem para partes relacionadas; serviços intragrupo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99778" y="2193131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Markup sobre custo de produção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91687" y="2410222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em Transações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996034" y="2410222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MCL / TNMM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97444" y="2410222"/>
            <a:ext cx="3907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complexas sem comparáveis de preço; serviços; intangíveis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699778" y="2410222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operacional líquida (EBIT/Receita)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91687" y="2627313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Partilha de Lucros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96034" y="2627313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 / PSM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97444" y="2627313"/>
            <a:ext cx="329794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altamente integradas; desenvolvimento conjunto de intangíveis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99778" y="2627313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Divisão do lucro total da operação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91687" y="2971205"/>
            <a:ext cx="22095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Valoração de Intangíveis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996034" y="2971205"/>
            <a:ext cx="26066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 / VAL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97444" y="2971205"/>
            <a:ext cx="3907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Transferência de intangíveis únicos e de alto valor (nova legislação BR)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99778" y="2971205"/>
            <a:ext cx="29100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de caixa descontado / valuation</a:t>
            </a:r>
            <a:endParaRPr lang="en-US" sz="7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551" y="3213100"/>
            <a:ext cx="5064494" cy="231784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441422" y="4888951"/>
            <a:ext cx="950796" cy="366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Seleção e Aplicação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243158" y="4705788"/>
            <a:ext cx="950796" cy="73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Disponibilidade de Comparáveis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051407" y="4888951"/>
            <a:ext cx="950796" cy="366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Tipo de Operação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3833607" y="4888951"/>
            <a:ext cx="950796" cy="366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Delineamento FAR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86120" y="5597723"/>
            <a:ext cx="1001945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fluxograma acima ilustra o processo sistemático de seleção do método de TP: parte-se do delineamento da transação, identifica-se o tipo de operação, avalia-se a disponibilidade de comparáveis e, por fim, seleciona-se o método mais adequado para cada caso concreto.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086120" y="5918101"/>
            <a:ext cx="10019454" cy="409773"/>
          </a:xfrm>
          <a:prstGeom prst="roundRect">
            <a:avLst>
              <a:gd name="adj" fmla="val 3628"/>
            </a:avLst>
          </a:prstGeom>
          <a:solidFill>
            <a:srgbClr val="C3C2F0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38" y="6044009"/>
            <a:ext cx="123822" cy="990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407978" y="5996186"/>
            <a:ext cx="959857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 de Seleção (OCDE e Brasil):</a:t>
            </a:r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método mais adequado é aquele que produz o resultado em condições de mercado mais confiável, considerando a natureza da transação, a disponibilidade de informações e o grau de comparabilidade alcançável. Não existe hierarquia rígida entre os métodos — a escolha deve ser justificada tecnicamente no estudo de TP.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90860"/>
            <a:ext cx="969244" cy="226020"/>
          </a:xfrm>
          <a:prstGeom prst="roundRect">
            <a:avLst>
              <a:gd name="adj" fmla="val 658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2336" y="734417"/>
            <a:ext cx="141730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1 — PIC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574" y="954088"/>
            <a:ext cx="7348254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PIC — Preços Independentes Comparados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574" y="1481237"/>
            <a:ext cx="1086854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dos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Preços Independentes Comparados (PIC)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equivalente ao </a:t>
            </a:r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Comparable Uncontrolled Price (CUP)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nas Diretrizes da OCDE, é considerado o método mais direto e confiável quando comparáveis adequados estão disponíveis. Compara o preço praticado na transação controlada com o preço de transações equivalentes entre partes independentes.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2279" y="1933079"/>
            <a:ext cx="5461558" cy="4233962"/>
          </a:xfrm>
          <a:prstGeom prst="roundRect">
            <a:avLst>
              <a:gd name="adj" fmla="val 439"/>
            </a:avLst>
          </a:prstGeom>
          <a:solidFill>
            <a:srgbClr val="403CCF"/>
          </a:solidFill>
          <a:ln/>
        </p:spPr>
      </p:sp>
      <p:sp>
        <p:nvSpPr>
          <p:cNvPr id="7" name="Text 5"/>
          <p:cNvSpPr/>
          <p:nvPr/>
        </p:nvSpPr>
        <p:spPr>
          <a:xfrm>
            <a:off x="696300" y="2026047"/>
            <a:ext cx="237374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Como Funciona o 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6300" y="2312789"/>
            <a:ext cx="5213517" cy="129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identifica transações comparáveis — internas (entre a empresa e terceiros independentes) ou externas (entre empresas independentes do mercado) — e compara diretamente os preços unitários praticados. Se o preço da transação controlada estiver dentro do intervalo de preços de mercado (</a:t>
            </a:r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 range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), a operação está em conformidade.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Fórmula conceitual: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Preço Controlado ≅ Preço de Transações Independentes Comparáveis ± Ajustes de Comparabilidade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6300" y="3695502"/>
            <a:ext cx="5213517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Comparáveis internos têm prioridade (mesma empresa, menor risco de diferenças)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Comparáveis externos exigem ajustes rigorosos de comparabilidade</a:t>
            </a:r>
            <a:endParaRPr lang="en-US" sz="9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Intervalo interquartil (25º–75º percentil) é o padrão de aceitação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53502" y="2026047"/>
            <a:ext cx="264798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 Típicas do PIC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0035" y="2328118"/>
            <a:ext cx="186031" cy="1860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56618" y="2324398"/>
            <a:ext cx="2180178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Commodities e Produtos Padronizados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56618" y="2804914"/>
            <a:ext cx="2180178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Petróleo, minérios, grãos e outros produtos com cotação em bolsas ou mercados públicos oferecem comparáveis robustos e frequentemente utilizados.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2328118"/>
            <a:ext cx="186031" cy="1860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56193" y="2324398"/>
            <a:ext cx="2180277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 e Licenças de Tecnologia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356193" y="2804914"/>
            <a:ext cx="2180277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Acordos de licença entre empresas independentes registrados em bases como RoyaltyStat e ktMINE permitem comparação direta de taxas de royalty (% sobre receita).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0035" y="3862834"/>
            <a:ext cx="186031" cy="1860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6618" y="3859113"/>
            <a:ext cx="2180178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com Mercado Ativo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56618" y="4339630"/>
            <a:ext cx="2180178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de TI, logística, consultoria e outros com fornecedores independentes no mercado local permitem comparação direta de preços/hora ou preços fixos.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9610" y="3862834"/>
            <a:ext cx="186031" cy="1860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56193" y="3859113"/>
            <a:ext cx="179948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Financeiras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356193" y="4145855"/>
            <a:ext cx="2180277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Taxas de juros de empréstimos similares no mercado (SOFR, CDI, EURIBOR + spread) servem como comparáveis para operações financeiras intragrupo.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253502" y="5312370"/>
            <a:ext cx="5282969" cy="750094"/>
          </a:xfrm>
          <a:prstGeom prst="roundRect">
            <a:avLst>
              <a:gd name="adj" fmla="val 2481"/>
            </a:avLst>
          </a:prstGeom>
          <a:solidFill>
            <a:srgbClr val="FCF2B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7522" y="5492155"/>
            <a:ext cx="154976" cy="12402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56519" y="5426968"/>
            <a:ext cx="47559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Limitação Principal: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PIC exige alto grau de comparabilidade. Diferenças significativas em produto, mercado, volume, prazo ou condições comerciais podem inviabilizar o método, exigindo migração para PRL ou MCL.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91059"/>
            <a:ext cx="927275" cy="208161"/>
          </a:xfrm>
          <a:prstGeom prst="roundRect">
            <a:avLst>
              <a:gd name="adj" fmla="val 667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7375" y="732135"/>
            <a:ext cx="1385258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2 — PRL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574" y="931565"/>
            <a:ext cx="6419590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PRL — Preço de Revenda menos Lucro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574" y="1414859"/>
            <a:ext cx="1086854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do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de Revenda menos Lucro (PRL)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equivalente ao </a:t>
            </a:r>
            <a:pPr algn="l" indent="0" marL="0">
              <a:lnSpc>
                <a:spcPct val="113000"/>
              </a:lnSpc>
              <a:buNone/>
            </a:pPr>
            <a:r>
              <a:rPr lang="en-US" sz="9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Resale Price Method (RPM)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OCDE, é aplicado quando uma empresa adquire produtos de parte relacionada e os revende a terceiros independentes sem transformação significativa. O preço de transferência é determinado retroativamente, subtraindo-se uma margem bruta de mercado do preço de revenda.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574" y="1901825"/>
            <a:ext cx="252316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Mecânica do Método PRL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574" y="2163663"/>
            <a:ext cx="5293089" cy="1248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PRL parte do preço cobrado pela empresa testada (revendedora) a clientes independentes e deduz uma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bruta adequada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cubra suas despesas operacionais e gere um lucro compatível com o mercado. O resultado é o preço de compra arm's length da transação controlada.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Fórmula: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Preço de Transferência = Preço de Revenda × (1 − Margem Bruta de Mercado)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prático: Se o preço de revenda é R$ 100,00 e a margem bruta de mercado é 20%, o preço de transferência arm's length é R$ 80,00.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574" y="3484662"/>
            <a:ext cx="5293089" cy="52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empresa testada é sempre o </a:t>
            </a:r>
            <a:pPr algn="l" marL="342900" indent="-34290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revendedor</a:t>
            </a:r>
            <a:pPr algn="l" marL="342900" indent="-34290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(parte que não adiciona valor significativo)</a:t>
            </a:r>
            <a:endParaRPr lang="en-US" sz="900" dirty="0"/>
          </a:p>
          <a:p>
            <a:pPr algn="l" marL="342900" indent="-34290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margem bruta é expressa como percentual do preço de revenda</a:t>
            </a:r>
            <a:endParaRPr lang="en-US" sz="900" dirty="0"/>
          </a:p>
          <a:p>
            <a:pPr algn="l" marL="342900" indent="-34290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Comparáveis são empresas distribuidoras independentes com funções e riscos similares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43382" y="1901825"/>
            <a:ext cx="32532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 e Considerações Práticas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30682" y="2173784"/>
            <a:ext cx="5305788" cy="99099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9867" y="2302173"/>
            <a:ext cx="269630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Distribuidores e Trading Companies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9867" y="2564011"/>
            <a:ext cx="499821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Empresas que importam produtos de matriz ou afiliada e os revendem sem transformação industrial são o caso clássico de aplicação do PRL. A margem deve refletir funções de armazenagem, logística, crédito e venda.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0682" y="3245743"/>
            <a:ext cx="5305788" cy="990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9867" y="3374132"/>
            <a:ext cx="268945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Importadores com Função Limitada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9867" y="3635970"/>
            <a:ext cx="499821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o importador brasileiro assume riscos limitados (sem risco de estoque, sem P&amp;D, sem desenvolvimento de mercado), a margem bruta tende a ser menor, refletindo a menor complexidade funcional.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0682" y="4317702"/>
            <a:ext cx="5305788" cy="990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867" y="4446091"/>
            <a:ext cx="267288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Ajustes de Comparabilidade no PRL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9867" y="4707930"/>
            <a:ext cx="499821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Diferenças em funções (garantias, marketing, estoque), ativos utilizados e riscos assumidos entre a empresa testada e os comparáveis exigem ajustes na margem bruta. A análise FAR é indispensável.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43382" y="5399782"/>
            <a:ext cx="5293089" cy="675977"/>
          </a:xfrm>
          <a:prstGeom prst="roundRect">
            <a:avLst>
              <a:gd name="adj" fmla="val 2569"/>
            </a:avLst>
          </a:prstGeom>
          <a:solidFill>
            <a:srgbClr val="B6D6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068" y="5563691"/>
            <a:ext cx="144657" cy="11568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19412" y="5501580"/>
            <a:ext cx="480137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Legislação Brasileira: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IN RFB nº 2.132/2023 manteve o PRL como método aplicável, com margens presetadas setoriais (20%, 30%, 40%) na legislação anterior, mas com possibilidade de comprovação de margem real mediante estudo de comparáveis.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88888"/>
            <a:ext cx="888382" cy="190698"/>
          </a:xfrm>
          <a:prstGeom prst="roundRect">
            <a:avLst>
              <a:gd name="adj" fmla="val 67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414" y="827484"/>
            <a:ext cx="1356286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3 — MCL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574" y="1007467"/>
            <a:ext cx="617849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MCL — Margem Líquida em Transações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574" y="1448197"/>
            <a:ext cx="10868547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da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em Transações (MCL)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equivalente ao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Transactional Net Margin Method (TNMM)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OCDE, é o método mais utilizado globalmente em estudos de preço de transferência. Compara a margem operacional líquida da parte testada com a de empresas independentes comparáveis, sendo especialmente útil quando métodos tradicionais (PIC, PRL) não são aplicáveis.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84185" y="1810544"/>
            <a:ext cx="5457986" cy="3897908"/>
          </a:xfrm>
          <a:prstGeom prst="roundRect">
            <a:avLst>
              <a:gd name="adj" fmla="val 414"/>
            </a:avLst>
          </a:prstGeom>
          <a:solidFill>
            <a:srgbClr val="403CCF"/>
          </a:solidFill>
          <a:ln/>
        </p:spPr>
      </p:sp>
      <p:sp>
        <p:nvSpPr>
          <p:cNvPr id="7" name="Text 5"/>
          <p:cNvSpPr/>
          <p:nvPr/>
        </p:nvSpPr>
        <p:spPr>
          <a:xfrm>
            <a:off x="691637" y="1880394"/>
            <a:ext cx="282984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Mecânica e Indicadores do MCL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1637" y="2118122"/>
            <a:ext cx="5852668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MCL utiliza indicadores de lucro líquido operacional, sendo os mais comuns: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1637" y="2322810"/>
            <a:ext cx="5243084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/ Receita Líquida (ROS):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mais utilizado para distribuidores e prestadores de serviços</a:t>
            </a:r>
            <a:endParaRPr lang="en-US" sz="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/ Custos Operacionais (NCP):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aplicado a fabricantes e operações de baixo risco</a:t>
            </a:r>
            <a:endParaRPr lang="en-US" sz="8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/ Ativos (ROA):</a:t>
            </a:r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utilizado para operações intensivas em capital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1637" y="2860080"/>
            <a:ext cx="5243084" cy="630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parte testada deve ser a de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menor complexidade funcional</a:t>
            </a:r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 menos ativos intangíveis únicos e menor exposição a riscos, facilitando a identificação de comparáveis.</a:t>
            </a:r>
            <a:endParaRPr lang="en-US" sz="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resultado arm's length é expresso como um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intervalo interquartil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(25º ao 75º percentil) das margens das empresas comparáveis. A margem da parte testada deve estar dentro deste intervalo.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33262" y="1880394"/>
            <a:ext cx="247266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 Típicas do MCL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262" y="2126853"/>
            <a:ext cx="2616631" cy="1188045"/>
          </a:xfrm>
          <a:prstGeom prst="roundRect">
            <a:avLst>
              <a:gd name="adj" fmla="val 1357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6340713" y="2234307"/>
            <a:ext cx="136610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Intragrupo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40713" y="2472035"/>
            <a:ext cx="2401728" cy="56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Prestadoras de serviços compartilhados (TI, RH, financeiro) onde não há comparáveis de preço direto, mas há empresas de serviços comparáveis em bases de dados públicas.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919741" y="2126853"/>
            <a:ext cx="2616730" cy="1188045"/>
          </a:xfrm>
          <a:prstGeom prst="roundRect">
            <a:avLst>
              <a:gd name="adj" fmla="val 1357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9027192" y="2234307"/>
            <a:ext cx="2401827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Complexas de Produtos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27192" y="2639913"/>
            <a:ext cx="2401827" cy="56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diferenças de produto, mercado ou condições comerciais inviabilizam PIC e PRL, o MCL oferece flexibilidade ao focar na margem líquida operacional.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33262" y="3384748"/>
            <a:ext cx="5303209" cy="736402"/>
          </a:xfrm>
          <a:prstGeom prst="roundRect">
            <a:avLst>
              <a:gd name="adj" fmla="val 2190"/>
            </a:avLst>
          </a:prstGeom>
          <a:solidFill>
            <a:srgbClr val="EAE8F3"/>
          </a:solidFill>
          <a:ln/>
        </p:spPr>
      </p:sp>
      <p:sp>
        <p:nvSpPr>
          <p:cNvPr id="19" name="Text 17"/>
          <p:cNvSpPr/>
          <p:nvPr/>
        </p:nvSpPr>
        <p:spPr>
          <a:xfrm>
            <a:off x="6340713" y="3492202"/>
            <a:ext cx="15353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Intangíveis e Royalties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0713" y="3729930"/>
            <a:ext cx="5088306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licenças de tecnologia e uso de marcas sem comparáveis diretos de royalty, o MCL permite verificar se a margem remanescente após o pagamento de royalties é compatível com o mercado.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33262" y="4199731"/>
            <a:ext cx="5303209" cy="604838"/>
          </a:xfrm>
          <a:prstGeom prst="roundRect">
            <a:avLst>
              <a:gd name="adj" fmla="val 2666"/>
            </a:avLst>
          </a:prstGeom>
          <a:solidFill>
            <a:srgbClr val="C3C2F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713" y="4347865"/>
            <a:ext cx="134339" cy="10745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82503" y="4289326"/>
            <a:ext cx="484651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Fontes de Comparáveis: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Bases de dados como Orbis (Bureau van Dijk), Bloomberg, Compustat e S&amp;P Capital IQ são amplamente utilizadas para identificação de empresas independentes comparáveis no método MCL.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33262" y="4883150"/>
            <a:ext cx="5303209" cy="746720"/>
          </a:xfrm>
          <a:prstGeom prst="roundRect">
            <a:avLst>
              <a:gd name="adj" fmla="val 2160"/>
            </a:avLst>
          </a:prstGeom>
          <a:solidFill>
            <a:srgbClr val="B6FCB8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713" y="5031284"/>
            <a:ext cx="134339" cy="10745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82503" y="4972745"/>
            <a:ext cx="4846516" cy="56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 do Treinamento: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seleção do método adequado — PIC, PRL ou MCL — depende do delineamento correto da transação, da disponibilidade de comparáveis e da análise rigorosa de funções, ativos e riscos. A documentação robusta é o principal instrumento de defesa em eventuais fiscalizações pela Receita Federal do Brasil.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61574" y="5813822"/>
            <a:ext cx="10868547" cy="8037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661574" y="5927229"/>
            <a:ext cx="11478132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 desenvolvido por especialistas em Preço de Transferência — </a:t>
            </a:r>
            <a:pPr algn="l" indent="0" marL="0">
              <a:lnSpc>
                <a:spcPct val="110000"/>
              </a:lnSpc>
              <a:buNone/>
            </a:pPr>
            <a:r>
              <a:rPr lang="en-US" sz="800" i="1" u="sng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Grant Thornton Brasil</a:t>
            </a:r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Este material tem caráter informativo e didático e não substitui consultoria específica para cada caso concreto.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3261023"/>
            <a:ext cx="329715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177" y="44053"/>
            <a:ext cx="4513150" cy="67698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8080" y="304403"/>
            <a:ext cx="495486" cy="98723"/>
          </a:xfrm>
          <a:prstGeom prst="roundRect">
            <a:avLst>
              <a:gd name="adj" fmla="val 714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9651" y="328315"/>
            <a:ext cx="1021928" cy="50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4 — MDL</a:t>
            </a:r>
            <a:endParaRPr lang="en-US" sz="350" dirty="0"/>
          </a:p>
        </p:txBody>
      </p:sp>
      <p:sp>
        <p:nvSpPr>
          <p:cNvPr id="6" name="Text 3"/>
          <p:cNvSpPr/>
          <p:nvPr/>
        </p:nvSpPr>
        <p:spPr>
          <a:xfrm>
            <a:off x="838080" y="411460"/>
            <a:ext cx="3388434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MDL — Método da Divisão do Lucro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38080" y="626368"/>
            <a:ext cx="6553234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Típicas e Visão Prática dos Métodos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838080" y="734417"/>
            <a:ext cx="134438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é o MDL?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838080" y="847130"/>
            <a:ext cx="2900191" cy="12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Método da Divisão do Lucro (MDL), ou </a:t>
            </a:r>
            <a:pPr algn="l" indent="0" marL="0">
              <a:lnSpc>
                <a:spcPct val="90000"/>
              </a:lnSpc>
              <a:buNone/>
            </a:pPr>
            <a:r>
              <a:rPr lang="en-US" sz="4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 Split Method (PSM)</a:t>
            </a:r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OCDE, é um método transacional que divide o lucro combinado gerado por partes relacionadas em uma transação ou operação.</a:t>
            </a:r>
            <a:endParaRPr lang="en-US" sz="450" dirty="0"/>
          </a:p>
        </p:txBody>
      </p:sp>
      <p:sp>
        <p:nvSpPr>
          <p:cNvPr id="10" name="Text 7"/>
          <p:cNvSpPr/>
          <p:nvPr/>
        </p:nvSpPr>
        <p:spPr>
          <a:xfrm>
            <a:off x="838080" y="993477"/>
            <a:ext cx="2900191" cy="198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Aplicável quando há contribuições 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significativas e únicas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ambas as partes.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Especialmente útil para 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altamente integradas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onde as contribuições individuais não podem ser facilmente isoladas.</a:t>
            </a:r>
            <a:endParaRPr lang="en-US" sz="450" dirty="0"/>
          </a:p>
        </p:txBody>
      </p:sp>
      <p:sp>
        <p:nvSpPr>
          <p:cNvPr id="11" name="Text 8"/>
          <p:cNvSpPr/>
          <p:nvPr/>
        </p:nvSpPr>
        <p:spPr>
          <a:xfrm>
            <a:off x="838080" y="1212949"/>
            <a:ext cx="142296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Quando Usar o MDL?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838080" y="1328241"/>
            <a:ext cx="2900191" cy="491133"/>
          </a:xfrm>
          <a:prstGeom prst="roundRect">
            <a:avLst>
              <a:gd name="adj" fmla="val 1796"/>
            </a:avLst>
          </a:prstGeom>
          <a:solidFill>
            <a:srgbClr val="EAE8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16" y="1386979"/>
            <a:ext cx="176307" cy="17631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333" y="1435497"/>
            <a:ext cx="79274" cy="792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816" y="1584127"/>
            <a:ext cx="1023118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Contribuições Equilibradas</a:t>
            </a:r>
            <a:endParaRPr lang="en-US" sz="550" dirty="0"/>
          </a:p>
        </p:txBody>
      </p:sp>
      <p:sp>
        <p:nvSpPr>
          <p:cNvPr id="16" name="Text 11"/>
          <p:cNvSpPr/>
          <p:nvPr/>
        </p:nvSpPr>
        <p:spPr>
          <a:xfrm>
            <a:off x="896816" y="1696839"/>
            <a:ext cx="2782719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conjuntas e alianças estratégicas com riscos e ativos compartilhados.</a:t>
            </a:r>
            <a:endParaRPr lang="en-US" sz="450" dirty="0"/>
          </a:p>
        </p:txBody>
      </p:sp>
      <p:sp>
        <p:nvSpPr>
          <p:cNvPr id="17" name="Shape 12"/>
          <p:cNvSpPr/>
          <p:nvPr/>
        </p:nvSpPr>
        <p:spPr>
          <a:xfrm>
            <a:off x="838080" y="1840210"/>
            <a:ext cx="2900191" cy="491133"/>
          </a:xfrm>
          <a:prstGeom prst="roundRect">
            <a:avLst>
              <a:gd name="adj" fmla="val 1796"/>
            </a:avLst>
          </a:prstGeom>
          <a:solidFill>
            <a:srgbClr val="EAE8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16" y="1898948"/>
            <a:ext cx="176307" cy="176312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333" y="1947466"/>
            <a:ext cx="79274" cy="792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816" y="2096095"/>
            <a:ext cx="1209347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Desenvolvimento de Intangíveis</a:t>
            </a:r>
            <a:endParaRPr lang="en-US" sz="550" dirty="0"/>
          </a:p>
        </p:txBody>
      </p:sp>
      <p:sp>
        <p:nvSpPr>
          <p:cNvPr id="21" name="Text 14"/>
          <p:cNvSpPr/>
          <p:nvPr/>
        </p:nvSpPr>
        <p:spPr>
          <a:xfrm>
            <a:off x="896816" y="2208808"/>
            <a:ext cx="2782719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Criação conjunta de tecnologia, patentes ou marcas de forma colaborativa.</a:t>
            </a:r>
            <a:endParaRPr lang="en-US" sz="450" dirty="0"/>
          </a:p>
        </p:txBody>
      </p:sp>
      <p:sp>
        <p:nvSpPr>
          <p:cNvPr id="22" name="Shape 15"/>
          <p:cNvSpPr/>
          <p:nvPr/>
        </p:nvSpPr>
        <p:spPr>
          <a:xfrm>
            <a:off x="838080" y="2352179"/>
            <a:ext cx="2900191" cy="491133"/>
          </a:xfrm>
          <a:prstGeom prst="roundRect">
            <a:avLst>
              <a:gd name="adj" fmla="val 1796"/>
            </a:avLst>
          </a:prstGeom>
          <a:solidFill>
            <a:srgbClr val="EAE8F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816" y="2410916"/>
            <a:ext cx="176307" cy="17631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5333" y="2459434"/>
            <a:ext cx="79274" cy="792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6816" y="2608064"/>
            <a:ext cx="825479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Estruturas Complexas</a:t>
            </a:r>
            <a:endParaRPr lang="en-US" sz="550" dirty="0"/>
          </a:p>
        </p:txBody>
      </p:sp>
      <p:sp>
        <p:nvSpPr>
          <p:cNvPr id="26" name="Text 17"/>
          <p:cNvSpPr/>
          <p:nvPr/>
        </p:nvSpPr>
        <p:spPr>
          <a:xfrm>
            <a:off x="896816" y="2720777"/>
            <a:ext cx="2782719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Manufatura ou prestação de serviços com alta integração funcional e tecnológica.</a:t>
            </a:r>
            <a:endParaRPr lang="en-US" sz="450" dirty="0"/>
          </a:p>
        </p:txBody>
      </p:sp>
      <p:sp>
        <p:nvSpPr>
          <p:cNvPr id="27" name="Shape 18"/>
          <p:cNvSpPr/>
          <p:nvPr/>
        </p:nvSpPr>
        <p:spPr>
          <a:xfrm>
            <a:off x="838080" y="2864148"/>
            <a:ext cx="2900191" cy="491133"/>
          </a:xfrm>
          <a:prstGeom prst="roundRect">
            <a:avLst>
              <a:gd name="adj" fmla="val 1796"/>
            </a:avLst>
          </a:prstGeom>
          <a:solidFill>
            <a:srgbClr val="EAE8F3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816" y="2922885"/>
            <a:ext cx="176307" cy="176312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5333" y="2971403"/>
            <a:ext cx="79274" cy="7927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96816" y="3120033"/>
            <a:ext cx="1348151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Inaplicabilidade de Outros Métodos</a:t>
            </a:r>
            <a:endParaRPr lang="en-US" sz="550" dirty="0"/>
          </a:p>
        </p:txBody>
      </p:sp>
      <p:sp>
        <p:nvSpPr>
          <p:cNvPr id="31" name="Text 20"/>
          <p:cNvSpPr/>
          <p:nvPr/>
        </p:nvSpPr>
        <p:spPr>
          <a:xfrm>
            <a:off x="896816" y="3232745"/>
            <a:ext cx="2782719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PIC, PRL e MCL não conseguem refletir a realidade econômica da transação.</a:t>
            </a:r>
            <a:endParaRPr lang="en-US" sz="450" dirty="0"/>
          </a:p>
        </p:txBody>
      </p:sp>
      <p:sp>
        <p:nvSpPr>
          <p:cNvPr id="32" name="Text 21"/>
          <p:cNvSpPr/>
          <p:nvPr/>
        </p:nvSpPr>
        <p:spPr>
          <a:xfrm>
            <a:off x="3887889" y="734417"/>
            <a:ext cx="170275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Mecânica Detalhada do MDL</a:t>
            </a:r>
            <a:endParaRPr lang="en-US" sz="550" dirty="0"/>
          </a:p>
        </p:txBody>
      </p:sp>
      <p:sp>
        <p:nvSpPr>
          <p:cNvPr id="33" name="Text 22"/>
          <p:cNvSpPr/>
          <p:nvPr/>
        </p:nvSpPr>
        <p:spPr>
          <a:xfrm>
            <a:off x="3887889" y="849709"/>
            <a:ext cx="117571" cy="734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4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7889" y="943173"/>
            <a:ext cx="2900191" cy="63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887889" y="985242"/>
            <a:ext cx="1180178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Identificar Lucro Combinado</a:t>
            </a:r>
            <a:endParaRPr lang="en-US" sz="550" dirty="0"/>
          </a:p>
        </p:txBody>
      </p:sp>
      <p:sp>
        <p:nvSpPr>
          <p:cNvPr id="36" name="Text 24"/>
          <p:cNvSpPr/>
          <p:nvPr/>
        </p:nvSpPr>
        <p:spPr>
          <a:xfrm>
            <a:off x="3887889" y="1097955"/>
            <a:ext cx="2900191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Determinar o lucro total gerado por todas as partes relacionadas envolvidas na transação controlada.</a:t>
            </a:r>
            <a:endParaRPr lang="en-US" sz="450" dirty="0"/>
          </a:p>
        </p:txBody>
      </p:sp>
      <p:sp>
        <p:nvSpPr>
          <p:cNvPr id="37" name="Text 25"/>
          <p:cNvSpPr/>
          <p:nvPr/>
        </p:nvSpPr>
        <p:spPr>
          <a:xfrm>
            <a:off x="3887889" y="1226641"/>
            <a:ext cx="117571" cy="734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4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87889" y="1308398"/>
            <a:ext cx="2900191" cy="635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3887889" y="1362174"/>
            <a:ext cx="1142475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Escolher Critério de Divisão</a:t>
            </a:r>
            <a:endParaRPr lang="en-US" sz="550" dirty="0"/>
          </a:p>
        </p:txBody>
      </p:sp>
      <p:sp>
        <p:nvSpPr>
          <p:cNvPr id="40" name="Text 27"/>
          <p:cNvSpPr/>
          <p:nvPr/>
        </p:nvSpPr>
        <p:spPr>
          <a:xfrm>
            <a:off x="3887889" y="1474887"/>
            <a:ext cx="2900191" cy="12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a base para alocar o lucro (ex: contribuições de ativos, custos, riscos assumidos, despesas de P&amp;D).</a:t>
            </a:r>
            <a:endParaRPr lang="en-US" sz="450" dirty="0"/>
          </a:p>
        </p:txBody>
      </p:sp>
      <p:sp>
        <p:nvSpPr>
          <p:cNvPr id="41" name="Text 28"/>
          <p:cNvSpPr/>
          <p:nvPr/>
        </p:nvSpPr>
        <p:spPr>
          <a:xfrm>
            <a:off x="3887889" y="1667371"/>
            <a:ext cx="117571" cy="734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4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87889" y="1737420"/>
            <a:ext cx="2900191" cy="635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3887889" y="1802904"/>
            <a:ext cx="734796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Alocar Lucro</a:t>
            </a:r>
            <a:endParaRPr lang="en-US" sz="550" dirty="0"/>
          </a:p>
        </p:txBody>
      </p:sp>
      <p:sp>
        <p:nvSpPr>
          <p:cNvPr id="44" name="Text 30"/>
          <p:cNvSpPr/>
          <p:nvPr/>
        </p:nvSpPr>
        <p:spPr>
          <a:xfrm>
            <a:off x="3887889" y="1915616"/>
            <a:ext cx="2900191" cy="12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Dividir o lucro combinado entre as partes, conforme o critério escolhido, para refletir o valor de mercado das contribuições.</a:t>
            </a:r>
            <a:endParaRPr lang="en-US" sz="450" dirty="0"/>
          </a:p>
        </p:txBody>
      </p:sp>
      <p:sp>
        <p:nvSpPr>
          <p:cNvPr id="45" name="Text 31"/>
          <p:cNvSpPr/>
          <p:nvPr/>
        </p:nvSpPr>
        <p:spPr>
          <a:xfrm>
            <a:off x="3887889" y="2108101"/>
            <a:ext cx="117571" cy="734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45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87889" y="2166441"/>
            <a:ext cx="2900191" cy="635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3887889" y="2243634"/>
            <a:ext cx="736879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Validar Resultado</a:t>
            </a:r>
            <a:endParaRPr lang="en-US" sz="550" dirty="0"/>
          </a:p>
        </p:txBody>
      </p:sp>
      <p:sp>
        <p:nvSpPr>
          <p:cNvPr id="48" name="Text 33"/>
          <p:cNvSpPr/>
          <p:nvPr/>
        </p:nvSpPr>
        <p:spPr>
          <a:xfrm>
            <a:off x="3887889" y="2356346"/>
            <a:ext cx="2900191" cy="12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se a divisão do lucro resulta em uma remuneração arm's length para cada parte, comparável com operações independentes.</a:t>
            </a:r>
            <a:endParaRPr lang="en-US" sz="450" dirty="0"/>
          </a:p>
        </p:txBody>
      </p:sp>
      <p:sp>
        <p:nvSpPr>
          <p:cNvPr id="49" name="Text 34"/>
          <p:cNvSpPr/>
          <p:nvPr/>
        </p:nvSpPr>
        <p:spPr>
          <a:xfrm>
            <a:off x="3887889" y="2551410"/>
            <a:ext cx="134438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 Práticas</a:t>
            </a:r>
            <a:endParaRPr lang="en-US" sz="550" dirty="0"/>
          </a:p>
        </p:txBody>
      </p:sp>
      <p:sp>
        <p:nvSpPr>
          <p:cNvPr id="50" name="Text 35"/>
          <p:cNvSpPr/>
          <p:nvPr/>
        </p:nvSpPr>
        <p:spPr>
          <a:xfrm>
            <a:off x="3887889" y="2664123"/>
            <a:ext cx="2900191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Joint Ventures de Manufatura: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Empresas que desenvolvem e produzem um produto em conjunto, compartilhando riscos e inovações.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Desenvolvimento Conjunto de Tecnologia: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Multinacionais que colaboram na criação de novas soluções digitais ou patentes.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de Distribuição Integrada: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Cadeias de valor onde o distribuidor adiciona valor significativo (ex: marketing local, P&amp;D regional).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Compartilhados Complexos:</a:t>
            </a:r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Centros de excelência que desenvolvem soluções customizadas para todo o grupo.</a:t>
            </a:r>
            <a:endParaRPr lang="en-US" sz="450" dirty="0"/>
          </a:p>
        </p:txBody>
      </p:sp>
      <p:sp>
        <p:nvSpPr>
          <p:cNvPr id="51" name="Shape 36"/>
          <p:cNvSpPr/>
          <p:nvPr/>
        </p:nvSpPr>
        <p:spPr>
          <a:xfrm>
            <a:off x="838080" y="3416796"/>
            <a:ext cx="5943650" cy="4366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52" name="Text 37"/>
          <p:cNvSpPr/>
          <p:nvPr/>
        </p:nvSpPr>
        <p:spPr>
          <a:xfrm>
            <a:off x="2533388" y="3467100"/>
            <a:ext cx="2552934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Vantagens e Limitações do MDL</a:t>
            </a:r>
            <a:endParaRPr lang="en-US" sz="900" dirty="0"/>
          </a:p>
        </p:txBody>
      </p:sp>
      <p:sp>
        <p:nvSpPr>
          <p:cNvPr id="53" name="Text 38"/>
          <p:cNvSpPr/>
          <p:nvPr/>
        </p:nvSpPr>
        <p:spPr>
          <a:xfrm>
            <a:off x="926184" y="3689548"/>
            <a:ext cx="134438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Vantagens</a:t>
            </a:r>
            <a:endParaRPr lang="en-US" sz="550" dirty="0"/>
          </a:p>
        </p:txBody>
      </p:sp>
      <p:sp>
        <p:nvSpPr>
          <p:cNvPr id="54" name="Text 39"/>
          <p:cNvSpPr/>
          <p:nvPr/>
        </p:nvSpPr>
        <p:spPr>
          <a:xfrm>
            <a:off x="926184" y="3802261"/>
            <a:ext cx="2812087" cy="2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Grande flexibilidade para operações complexas.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Reconhece contribuições únicas e complementares de ambas as partes.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alinhado à criação de valor em modelos de negócios integrados.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 os impactos de diferenças em funções e riscos entre comparáveis.</a:t>
            </a:r>
            <a:endParaRPr lang="en-US" sz="450" dirty="0"/>
          </a:p>
        </p:txBody>
      </p:sp>
      <p:sp>
        <p:nvSpPr>
          <p:cNvPr id="55" name="Text 40"/>
          <p:cNvSpPr/>
          <p:nvPr/>
        </p:nvSpPr>
        <p:spPr>
          <a:xfrm>
            <a:off x="3975993" y="3689548"/>
            <a:ext cx="1344380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Limitações</a:t>
            </a:r>
            <a:endParaRPr lang="en-US" sz="550" dirty="0"/>
          </a:p>
        </p:txBody>
      </p:sp>
      <p:sp>
        <p:nvSpPr>
          <p:cNvPr id="56" name="Text 41"/>
          <p:cNvSpPr/>
          <p:nvPr/>
        </p:nvSpPr>
        <p:spPr>
          <a:xfrm>
            <a:off x="3975993" y="3802261"/>
            <a:ext cx="2812087" cy="2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complexidade de implementação e exige dados muito detalhados.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Maior grau de subjetividade na definição dos critérios de divisão.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Dificuldade em obter dados confiáveis de partes independentes para validação.</a:t>
            </a:r>
            <a:endParaRPr lang="en-US" sz="450" dirty="0"/>
          </a:p>
          <a:p>
            <a:pPr algn="l" marL="342900" indent="-342900">
              <a:lnSpc>
                <a:spcPct val="90000"/>
              </a:lnSpc>
              <a:buSzPct val="100000"/>
              <a:buChar char="•"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gerar disputas sobre a valoração das contribuições de cada parte.</a:t>
            </a:r>
            <a:endParaRPr lang="en-US" sz="450" dirty="0"/>
          </a:p>
        </p:txBody>
      </p:sp>
      <p:sp>
        <p:nvSpPr>
          <p:cNvPr id="57" name="Shape 42"/>
          <p:cNvSpPr/>
          <p:nvPr/>
        </p:nvSpPr>
        <p:spPr>
          <a:xfrm>
            <a:off x="838080" y="4147939"/>
            <a:ext cx="5943650" cy="4366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58" name="Text 43"/>
          <p:cNvSpPr/>
          <p:nvPr/>
        </p:nvSpPr>
        <p:spPr>
          <a:xfrm>
            <a:off x="1700864" y="4198243"/>
            <a:ext cx="4217981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Comparação Prática dos Métodos de Preço de Transferência</a:t>
            </a:r>
            <a:endParaRPr lang="en-US" sz="9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080" y="4376440"/>
            <a:ext cx="5943650" cy="468313"/>
          </a:xfrm>
          <a:prstGeom prst="rect">
            <a:avLst/>
          </a:prstGeom>
        </p:spPr>
      </p:pic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74633" y="4429224"/>
            <a:ext cx="70543" cy="7054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903166" y="4611489"/>
            <a:ext cx="734796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PIC</a:t>
            </a:r>
            <a:endParaRPr lang="en-US" sz="550" dirty="0"/>
          </a:p>
        </p:txBody>
      </p:sp>
      <p:sp>
        <p:nvSpPr>
          <p:cNvPr id="62" name="Text 45"/>
          <p:cNvSpPr/>
          <p:nvPr/>
        </p:nvSpPr>
        <p:spPr>
          <a:xfrm>
            <a:off x="903166" y="4715867"/>
            <a:ext cx="5813478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para produtos padronizados com comparáveis diretos de preço.</a:t>
            </a:r>
            <a:endParaRPr lang="en-US" sz="450" dirty="0"/>
          </a:p>
        </p:txBody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080" y="4865588"/>
            <a:ext cx="5943650" cy="468313"/>
          </a:xfrm>
          <a:prstGeom prst="rect">
            <a:avLst/>
          </a:prstGeom>
        </p:spPr>
      </p:pic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774633" y="4918373"/>
            <a:ext cx="70543" cy="70545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903166" y="5100638"/>
            <a:ext cx="734796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PRL</a:t>
            </a:r>
            <a:endParaRPr lang="en-US" sz="550" dirty="0"/>
          </a:p>
        </p:txBody>
      </p:sp>
      <p:sp>
        <p:nvSpPr>
          <p:cNvPr id="66" name="Text 47"/>
          <p:cNvSpPr/>
          <p:nvPr/>
        </p:nvSpPr>
        <p:spPr>
          <a:xfrm>
            <a:off x="903166" y="5205016"/>
            <a:ext cx="5813478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Perfeito para distribuidores que revendem produtos sem transformação significativa.</a:t>
            </a:r>
            <a:endParaRPr lang="en-US" sz="450" dirty="0"/>
          </a:p>
        </p:txBody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38080" y="5354737"/>
            <a:ext cx="5943650" cy="468313"/>
          </a:xfrm>
          <a:prstGeom prst="rect">
            <a:avLst/>
          </a:prstGeom>
        </p:spPr>
      </p:pic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774633" y="5407521"/>
            <a:ext cx="70543" cy="70545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903166" y="5589786"/>
            <a:ext cx="734796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MCL</a:t>
            </a:r>
            <a:endParaRPr lang="en-US" sz="550" dirty="0"/>
          </a:p>
        </p:txBody>
      </p:sp>
      <p:sp>
        <p:nvSpPr>
          <p:cNvPr id="70" name="Text 49"/>
          <p:cNvSpPr/>
          <p:nvPr/>
        </p:nvSpPr>
        <p:spPr>
          <a:xfrm>
            <a:off x="903166" y="5694164"/>
            <a:ext cx="5813478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usado para serviços e operações complexas, focado na margem operacional líquida.</a:t>
            </a:r>
            <a:endParaRPr lang="en-US" sz="45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38080" y="5843885"/>
            <a:ext cx="5943650" cy="468313"/>
          </a:xfrm>
          <a:prstGeom prst="rect">
            <a:avLst/>
          </a:prstGeom>
        </p:spPr>
      </p:pic>
      <p:pic>
        <p:nvPicPr>
          <p:cNvPr id="72" name="Image 20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774633" y="5896670"/>
            <a:ext cx="70543" cy="70545"/>
          </a:xfrm>
          <a:prstGeom prst="rect">
            <a:avLst/>
          </a:prstGeom>
        </p:spPr>
      </p:pic>
      <p:sp>
        <p:nvSpPr>
          <p:cNvPr id="73" name="Text 50"/>
          <p:cNvSpPr/>
          <p:nvPr/>
        </p:nvSpPr>
        <p:spPr>
          <a:xfrm>
            <a:off x="903166" y="6078934"/>
            <a:ext cx="734796" cy="9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MDL</a:t>
            </a:r>
            <a:endParaRPr lang="en-US" sz="550" dirty="0"/>
          </a:p>
        </p:txBody>
      </p:sp>
      <p:sp>
        <p:nvSpPr>
          <p:cNvPr id="74" name="Text 51"/>
          <p:cNvSpPr/>
          <p:nvPr/>
        </p:nvSpPr>
        <p:spPr>
          <a:xfrm>
            <a:off x="903166" y="6183313"/>
            <a:ext cx="5813478" cy="63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Essencial para operações integradas com contribuições únicas de ambas as partes.</a:t>
            </a:r>
            <a:endParaRPr lang="en-US" sz="450" dirty="0"/>
          </a:p>
        </p:txBody>
      </p:sp>
      <p:sp>
        <p:nvSpPr>
          <p:cNvPr id="75" name="Shape 52"/>
          <p:cNvSpPr/>
          <p:nvPr/>
        </p:nvSpPr>
        <p:spPr>
          <a:xfrm>
            <a:off x="838080" y="6335613"/>
            <a:ext cx="5943650" cy="194469"/>
          </a:xfrm>
          <a:prstGeom prst="roundRect">
            <a:avLst>
              <a:gd name="adj" fmla="val 4535"/>
            </a:avLst>
          </a:prstGeom>
          <a:solidFill>
            <a:srgbClr val="B6D6FC"/>
          </a:solidFill>
          <a:ln/>
        </p:spPr>
      </p:sp>
      <p:pic>
        <p:nvPicPr>
          <p:cNvPr id="76" name="Image 21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6816" y="6409035"/>
            <a:ext cx="73420" cy="58738"/>
          </a:xfrm>
          <a:prstGeom prst="rect">
            <a:avLst/>
          </a:prstGeom>
        </p:spPr>
      </p:pic>
      <p:sp>
        <p:nvSpPr>
          <p:cNvPr id="77" name="Text 53"/>
          <p:cNvSpPr/>
          <p:nvPr/>
        </p:nvSpPr>
        <p:spPr>
          <a:xfrm>
            <a:off x="1028972" y="6369050"/>
            <a:ext cx="5694022" cy="127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Conclusão:</a:t>
            </a:r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escolha do método depende da </a:t>
            </a:r>
            <a:pPr algn="l" indent="0" marL="0">
              <a:lnSpc>
                <a:spcPct val="9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 e de riscos (FAR)</a:t>
            </a:r>
            <a:pPr algn="l" indent="0" marL="0">
              <a:lnSpc>
                <a:spcPct val="9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da disponibilidade de comparáveis. Cada método possui seu nicho de aplicação, visando sempre a obtenção de um resultado arm's length que reflita a realidade econômica da transação.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03CC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2026-06-11T15:39:56Z</dcterms:created>
  <dcterms:modified xsi:type="dcterms:W3CDTF">2026-06-11T15:39:56Z</dcterms:modified>
</cp:coreProperties>
</file>