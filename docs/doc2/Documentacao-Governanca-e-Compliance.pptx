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2095302"/>
            <a:ext cx="3045046" cy="310952"/>
          </a:xfrm>
          <a:prstGeom prst="roundRect">
            <a:avLst>
              <a:gd name="adj" fmla="val 638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60790" y="2144911"/>
            <a:ext cx="3456199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EM PREÇO DE TRANSFERÊNCIA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2472333"/>
            <a:ext cx="963945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Documentação, Governança e Compliance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3237111"/>
            <a:ext cx="1086854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 os pilares da conformidade documental em preço de transferência no Brasil, abordando a estrutura obrigatória de documentos, os prazos legais, as responsabilidades internas e os principais riscos associados à ausência de controles adequados. Conteúdo desenvolvido para profissionais e gestores tributários com foco em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fiscal robusto e sustentável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574" y="4258270"/>
            <a:ext cx="10868547" cy="12402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574" y="4497983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A4B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 Brasil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Treinamento Interno · Módulo de Documentação e Governança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61888"/>
            <a:ext cx="525052" cy="208161"/>
          </a:xfrm>
          <a:prstGeom prst="roundRect">
            <a:avLst>
              <a:gd name="adj" fmla="val 667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7375" y="702965"/>
            <a:ext cx="983035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574" y="902395"/>
            <a:ext cx="6370677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Documental: Visão Integrada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574" y="1385689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de preço de transferência no Brasil é composta por três elementos interdependentes que, em conjunto, formam o arcabouço de conformidade fiscal exigido pela legislação brasileira. Compreender a relação entre esses documentos é fundamental para garantir a integridade das informações prestadas à Receita Federal do Brasil e minimizar riscos de autuação.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74" y="1882775"/>
            <a:ext cx="4875884" cy="2742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64762" y="2742917"/>
            <a:ext cx="573440" cy="8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FILE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1623978" y="3889901"/>
            <a:ext cx="511273" cy="8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7915970" y="1864618"/>
            <a:ext cx="422998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8232" y="4807645"/>
            <a:ext cx="5459772" cy="1388368"/>
          </a:xfrm>
          <a:prstGeom prst="roundRect">
            <a:avLst>
              <a:gd name="adj" fmla="val 1251"/>
            </a:avLst>
          </a:prstGeom>
          <a:solidFill>
            <a:srgbClr val="403CCF"/>
          </a:solidFill>
          <a:ln/>
        </p:spPr>
      </p:sp>
      <p:sp>
        <p:nvSpPr>
          <p:cNvPr id="11" name="Text 8"/>
          <p:cNvSpPr/>
          <p:nvPr/>
        </p:nvSpPr>
        <p:spPr>
          <a:xfrm>
            <a:off x="693919" y="4888607"/>
            <a:ext cx="205675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3919" y="5150445"/>
            <a:ext cx="52284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local com análise detalhada das transações intercompany realizadas pela entidade brasileira, incluindo métodos aplicados, comparáveis selecionados e demonstrações financeiras específicas.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43382" y="4888607"/>
            <a:ext cx="205675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File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43382" y="5150445"/>
            <a:ext cx="529308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global que descreve a estrutura do grupo multinacional, sua cadeia de valor, ativos intangíveis e atividades financeiras, fornecendo contexto para as operações locais.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43382" y="5546328"/>
            <a:ext cx="316628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ECF – Escrituração Contábil Fiscal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43382" y="5808166"/>
            <a:ext cx="529308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Obrigação acessória anual entregue via SPED, contendo informações fiscais detalhadas sobre as transações com partes relacionadas, servindo como base de cruzamento para a RFB.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29655"/>
            <a:ext cx="488342" cy="190698"/>
          </a:xfrm>
          <a:prstGeom prst="roundRect">
            <a:avLst>
              <a:gd name="adj" fmla="val 67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414" y="768251"/>
            <a:ext cx="956246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36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574" y="948234"/>
            <a:ext cx="7529919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File: Conteúdo Esperado e Principais Pontos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574" y="1388963"/>
            <a:ext cx="108685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documento central da documentação de preço de transferência no Brasil. Deve ser elaborado anualmente pela entidade brasileira e conter análise robusta, consistente e defensável de todas as transações com partes relacionadas. A qualidade deste documento é determinante em eventuais processos de fiscalização pela Receita Federal.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1574" y="1751310"/>
            <a:ext cx="1086815" cy="708422"/>
          </a:xfrm>
          <a:prstGeom prst="roundRect">
            <a:avLst>
              <a:gd name="adj" fmla="val 2276"/>
            </a:avLst>
          </a:prstGeom>
          <a:solidFill>
            <a:srgbClr val="4F2D7F"/>
          </a:solidFill>
          <a:ln/>
        </p:spPr>
      </p:sp>
      <p:sp>
        <p:nvSpPr>
          <p:cNvPr id="7" name="Text 5"/>
          <p:cNvSpPr/>
          <p:nvPr/>
        </p:nvSpPr>
        <p:spPr>
          <a:xfrm>
            <a:off x="1129379" y="2011065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55840" y="1858764"/>
            <a:ext cx="2551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Identificação das Partes Relacionadas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55840" y="2068513"/>
            <a:ext cx="95668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completo de todas as contrapartes vinculadas, com descrição da natureza do vínculo, percentual de participação societária e jurisdição de cada entidade do grupo envolvida nas transações.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02065" y="2456557"/>
            <a:ext cx="9674380" cy="6350"/>
          </a:xfrm>
          <a:prstGeom prst="roundRect">
            <a:avLst>
              <a:gd name="adj" fmla="val 253947"/>
            </a:avLst>
          </a:prstGeom>
          <a:solidFill>
            <a:srgbClr val="4F2D7F"/>
          </a:solidFill>
          <a:ln/>
        </p:spPr>
      </p:sp>
      <p:sp>
        <p:nvSpPr>
          <p:cNvPr id="11" name="Shape 9"/>
          <p:cNvSpPr/>
          <p:nvPr/>
        </p:nvSpPr>
        <p:spPr>
          <a:xfrm>
            <a:off x="661574" y="2513409"/>
            <a:ext cx="2173630" cy="708422"/>
          </a:xfrm>
          <a:prstGeom prst="roundRect">
            <a:avLst>
              <a:gd name="adj" fmla="val 2276"/>
            </a:avLst>
          </a:prstGeom>
          <a:solidFill>
            <a:srgbClr val="5A3A8F"/>
          </a:solidFill>
          <a:ln/>
        </p:spPr>
      </p:sp>
      <p:sp>
        <p:nvSpPr>
          <p:cNvPr id="12" name="Text 10"/>
          <p:cNvSpPr/>
          <p:nvPr/>
        </p:nvSpPr>
        <p:spPr>
          <a:xfrm>
            <a:off x="1672786" y="2773164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2655" y="2620863"/>
            <a:ext cx="275712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Descrição das Transações Intercompany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2655" y="2830612"/>
            <a:ext cx="8480014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Detalhamento de todas as operações realizadas, incluindo valores, volumes, condições comerciais, moeda de liquidação e termos contratuais. Abrange importações, exportações, serviços, royalties e financiamentos.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88880" y="3218656"/>
            <a:ext cx="8587565" cy="6350"/>
          </a:xfrm>
          <a:prstGeom prst="roundRect">
            <a:avLst>
              <a:gd name="adj" fmla="val 253947"/>
            </a:avLst>
          </a:prstGeom>
          <a:solidFill>
            <a:srgbClr val="5A3A8F"/>
          </a:solidFill>
          <a:ln/>
        </p:spPr>
      </p:sp>
      <p:sp>
        <p:nvSpPr>
          <p:cNvPr id="16" name="Shape 14"/>
          <p:cNvSpPr/>
          <p:nvPr/>
        </p:nvSpPr>
        <p:spPr>
          <a:xfrm>
            <a:off x="661574" y="3275509"/>
            <a:ext cx="3260544" cy="708422"/>
          </a:xfrm>
          <a:prstGeom prst="roundRect">
            <a:avLst>
              <a:gd name="adj" fmla="val 2276"/>
            </a:avLst>
          </a:prstGeom>
          <a:solidFill>
            <a:srgbClr val="65479F"/>
          </a:solidFill>
          <a:ln/>
        </p:spPr>
      </p:sp>
      <p:sp>
        <p:nvSpPr>
          <p:cNvPr id="17" name="Text 15"/>
          <p:cNvSpPr/>
          <p:nvPr/>
        </p:nvSpPr>
        <p:spPr>
          <a:xfrm>
            <a:off x="2216293" y="3535263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9570" y="3382963"/>
            <a:ext cx="21253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Seleção e Aplicação do Método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9570" y="3592711"/>
            <a:ext cx="739310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 técnica da escolha do método de preço de transferência (PIC, PVL, CPM, entre outros), com demonstração dos cálculos, margens obtidas e faixa de conformidade aplicada conforme a Instrução Normativa vigente.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75794" y="3980755"/>
            <a:ext cx="7500651" cy="6350"/>
          </a:xfrm>
          <a:prstGeom prst="roundRect">
            <a:avLst>
              <a:gd name="adj" fmla="val 253947"/>
            </a:avLst>
          </a:prstGeom>
          <a:solidFill>
            <a:srgbClr val="65479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574" y="4037608"/>
            <a:ext cx="4347359" cy="708422"/>
          </a:xfrm>
          <a:prstGeom prst="roundRect">
            <a:avLst>
              <a:gd name="adj" fmla="val 2276"/>
            </a:avLst>
          </a:prstGeom>
          <a:solidFill>
            <a:srgbClr val="7054AF"/>
          </a:solidFill>
          <a:ln/>
        </p:spPr>
      </p:sp>
      <p:sp>
        <p:nvSpPr>
          <p:cNvPr id="22" name="Text 20"/>
          <p:cNvSpPr/>
          <p:nvPr/>
        </p:nvSpPr>
        <p:spPr>
          <a:xfrm>
            <a:off x="2759700" y="4297363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16385" y="4145062"/>
            <a:ext cx="194275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de Comparabilidade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16385" y="4354810"/>
            <a:ext cx="630628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 de comparáveis com descrição dos critérios de busca, bases de dados utilizadas, ajustes de comparabilidade aplicados e análise de similaridade funcional entre as empresas comparadas e a entidade brasileira.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62609" y="4742855"/>
            <a:ext cx="6413836" cy="6350"/>
          </a:xfrm>
          <a:prstGeom prst="roundRect">
            <a:avLst>
              <a:gd name="adj" fmla="val 253947"/>
            </a:avLst>
          </a:prstGeom>
          <a:solidFill>
            <a:srgbClr val="7054AF"/>
          </a:solidFill>
          <a:ln/>
        </p:spPr>
      </p:sp>
      <p:sp>
        <p:nvSpPr>
          <p:cNvPr id="26" name="Shape 24"/>
          <p:cNvSpPr/>
          <p:nvPr/>
        </p:nvSpPr>
        <p:spPr>
          <a:xfrm>
            <a:off x="661574" y="4799707"/>
            <a:ext cx="5434273" cy="708422"/>
          </a:xfrm>
          <a:prstGeom prst="roundRect">
            <a:avLst>
              <a:gd name="adj" fmla="val 2276"/>
            </a:avLst>
          </a:prstGeom>
          <a:solidFill>
            <a:srgbClr val="7B61BF"/>
          </a:solidFill>
          <a:ln/>
        </p:spPr>
      </p:sp>
      <p:sp>
        <p:nvSpPr>
          <p:cNvPr id="27" name="Text 25"/>
          <p:cNvSpPr/>
          <p:nvPr/>
        </p:nvSpPr>
        <p:spPr>
          <a:xfrm>
            <a:off x="3303108" y="5059462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03299" y="4907161"/>
            <a:ext cx="25456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Demonstrações Financeiras e Anexos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3299" y="5116909"/>
            <a:ext cx="521937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Demonstrações contábeis da entidade brasileira, contratos intercompany assinados, políticas de precificação do grupo e demais evidências documentais que suportem as conclusões da análise.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1574" y="5586710"/>
            <a:ext cx="10868547" cy="462955"/>
          </a:xfrm>
          <a:prstGeom prst="roundRect">
            <a:avLst>
              <a:gd name="adj" fmla="val 3483"/>
            </a:avLst>
          </a:prstGeom>
          <a:solidFill>
            <a:srgbClr val="B6D6FC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5728494"/>
            <a:ext cx="134339" cy="10745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10815" y="5676305"/>
            <a:ext cx="10411854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 prática: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Local File deve ser elaborado de forma contemporânea às transações, preferencialmente até a data de entrega da ECF, e revisado anualmente para refletir mudanças operacionais ou legislativas.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29655"/>
            <a:ext cx="488342" cy="190698"/>
          </a:xfrm>
          <a:prstGeom prst="roundRect">
            <a:avLst>
              <a:gd name="adj" fmla="val 67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414" y="768251"/>
            <a:ext cx="956246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36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574" y="948234"/>
            <a:ext cx="7529919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File: Conteúdo Esperado e Principais Pontos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574" y="1388963"/>
            <a:ext cx="108685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documento central da documentação de preço de transferência no Brasil. Deve ser elaborado anualmente pela entidade brasileira e conter análise robusta, consistente e defensável de todas as transações com partes relacionadas. A qualidade deste documento é determinante em eventuais processos de fiscalização pela Receita Federal.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1574" y="1751310"/>
            <a:ext cx="1086815" cy="708422"/>
          </a:xfrm>
          <a:prstGeom prst="roundRect">
            <a:avLst>
              <a:gd name="adj" fmla="val 2276"/>
            </a:avLst>
          </a:prstGeom>
          <a:solidFill>
            <a:srgbClr val="7B2CBF"/>
          </a:solidFill>
          <a:ln/>
        </p:spPr>
      </p:sp>
      <p:sp>
        <p:nvSpPr>
          <p:cNvPr id="7" name="Text 5"/>
          <p:cNvSpPr/>
          <p:nvPr/>
        </p:nvSpPr>
        <p:spPr>
          <a:xfrm>
            <a:off x="1129379" y="2011065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55840" y="1858764"/>
            <a:ext cx="2551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Identificação das Partes Relacionadas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55840" y="2068513"/>
            <a:ext cx="956682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completo de todas as contrapartes vinculadas, com descrição da natureza do vínculo, percentual de participação societária e jurisdição de cada entidade do grupo envolvida nas transações.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02065" y="2456557"/>
            <a:ext cx="9674380" cy="6350"/>
          </a:xfrm>
          <a:prstGeom prst="roundRect">
            <a:avLst>
              <a:gd name="adj" fmla="val 253947"/>
            </a:avLst>
          </a:prstGeom>
          <a:solidFill>
            <a:srgbClr val="7B2CBF"/>
          </a:solidFill>
          <a:ln/>
        </p:spPr>
      </p:sp>
      <p:sp>
        <p:nvSpPr>
          <p:cNvPr id="11" name="Shape 9"/>
          <p:cNvSpPr/>
          <p:nvPr/>
        </p:nvSpPr>
        <p:spPr>
          <a:xfrm>
            <a:off x="661574" y="2513409"/>
            <a:ext cx="2173630" cy="708422"/>
          </a:xfrm>
          <a:prstGeom prst="roundRect">
            <a:avLst>
              <a:gd name="adj" fmla="val 2276"/>
            </a:avLst>
          </a:prstGeom>
          <a:solidFill>
            <a:srgbClr val="8B3FBF"/>
          </a:solidFill>
          <a:ln/>
        </p:spPr>
      </p:sp>
      <p:sp>
        <p:nvSpPr>
          <p:cNvPr id="12" name="Text 10"/>
          <p:cNvSpPr/>
          <p:nvPr/>
        </p:nvSpPr>
        <p:spPr>
          <a:xfrm>
            <a:off x="1672786" y="2773164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2655" y="2620863"/>
            <a:ext cx="275712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Descrição das Transações Intercompany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2655" y="2830612"/>
            <a:ext cx="8480014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Detalhamento de todas as operações realizadas, incluindo valores, volumes, condições comerciais, moeda de liquidação e termos contratuais. Abrange importações, exportações, serviços, royalties e financiamentos.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88880" y="3218656"/>
            <a:ext cx="8587565" cy="6350"/>
          </a:xfrm>
          <a:prstGeom prst="roundRect">
            <a:avLst>
              <a:gd name="adj" fmla="val 253947"/>
            </a:avLst>
          </a:prstGeom>
          <a:solidFill>
            <a:srgbClr val="8B3FBF"/>
          </a:solidFill>
          <a:ln/>
        </p:spPr>
      </p:sp>
      <p:sp>
        <p:nvSpPr>
          <p:cNvPr id="16" name="Shape 14"/>
          <p:cNvSpPr/>
          <p:nvPr/>
        </p:nvSpPr>
        <p:spPr>
          <a:xfrm>
            <a:off x="661574" y="3275509"/>
            <a:ext cx="3260544" cy="708422"/>
          </a:xfrm>
          <a:prstGeom prst="roundRect">
            <a:avLst>
              <a:gd name="adj" fmla="val 2276"/>
            </a:avLst>
          </a:prstGeom>
          <a:solidFill>
            <a:srgbClr val="9D4FBF"/>
          </a:solidFill>
          <a:ln/>
        </p:spPr>
      </p:sp>
      <p:sp>
        <p:nvSpPr>
          <p:cNvPr id="17" name="Text 15"/>
          <p:cNvSpPr/>
          <p:nvPr/>
        </p:nvSpPr>
        <p:spPr>
          <a:xfrm>
            <a:off x="2216293" y="3535263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9570" y="3382963"/>
            <a:ext cx="21253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Seleção e Aplicação do Método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9570" y="3592711"/>
            <a:ext cx="739310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 técnica da escolha do método de preço de transferência (PIC, PVL, CPM, entre outros), com demonstração dos cálculos, margens obtidas e faixa de conformidade aplicada conforme a Instrução Normativa vigente.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75794" y="3980755"/>
            <a:ext cx="7500651" cy="6350"/>
          </a:xfrm>
          <a:prstGeom prst="roundRect">
            <a:avLst>
              <a:gd name="adj" fmla="val 253947"/>
            </a:avLst>
          </a:prstGeom>
          <a:solidFill>
            <a:srgbClr val="9D4FB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574" y="4037608"/>
            <a:ext cx="4347359" cy="708422"/>
          </a:xfrm>
          <a:prstGeom prst="roundRect">
            <a:avLst>
              <a:gd name="adj" fmla="val 2276"/>
            </a:avLst>
          </a:prstGeom>
          <a:solidFill>
            <a:srgbClr val="AF5FBF"/>
          </a:solidFill>
          <a:ln/>
        </p:spPr>
      </p:sp>
      <p:sp>
        <p:nvSpPr>
          <p:cNvPr id="22" name="Text 20"/>
          <p:cNvSpPr/>
          <p:nvPr/>
        </p:nvSpPr>
        <p:spPr>
          <a:xfrm>
            <a:off x="2759700" y="4297363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16385" y="4145062"/>
            <a:ext cx="194275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de Comparabilidade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16385" y="4354810"/>
            <a:ext cx="630628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 de comparáveis com descrição dos critérios de busca, bases de dados utilizadas, ajustes de comparabilidade aplicados e análise de similaridade funcional entre as empresas comparadas e a entidade brasileira.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62609" y="4742855"/>
            <a:ext cx="6413836" cy="6350"/>
          </a:xfrm>
          <a:prstGeom prst="roundRect">
            <a:avLst>
              <a:gd name="adj" fmla="val 253947"/>
            </a:avLst>
          </a:prstGeom>
          <a:solidFill>
            <a:srgbClr val="AF5FBF"/>
          </a:solidFill>
          <a:ln/>
        </p:spPr>
      </p:sp>
      <p:sp>
        <p:nvSpPr>
          <p:cNvPr id="26" name="Shape 24"/>
          <p:cNvSpPr/>
          <p:nvPr/>
        </p:nvSpPr>
        <p:spPr>
          <a:xfrm>
            <a:off x="661574" y="4799707"/>
            <a:ext cx="5434273" cy="708422"/>
          </a:xfrm>
          <a:prstGeom prst="roundRect">
            <a:avLst>
              <a:gd name="adj" fmla="val 2276"/>
            </a:avLst>
          </a:prstGeom>
          <a:solidFill>
            <a:srgbClr val="C77FBF"/>
          </a:solidFill>
          <a:ln/>
        </p:spPr>
      </p:sp>
      <p:sp>
        <p:nvSpPr>
          <p:cNvPr id="27" name="Text 25"/>
          <p:cNvSpPr/>
          <p:nvPr/>
        </p:nvSpPr>
        <p:spPr>
          <a:xfrm>
            <a:off x="3303108" y="5059462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03299" y="4907161"/>
            <a:ext cx="25456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Demonstrações Financeiras e Anexos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3299" y="5116909"/>
            <a:ext cx="521937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Demonstrações contábeis da entidade brasileira, contratos intercompany assinados, políticas de precificação do grupo e demais evidências documentais que suportem as conclusões da análise.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1574" y="5586710"/>
            <a:ext cx="10868547" cy="462955"/>
          </a:xfrm>
          <a:prstGeom prst="roundRect">
            <a:avLst>
              <a:gd name="adj" fmla="val 3483"/>
            </a:avLst>
          </a:prstGeom>
          <a:solidFill>
            <a:srgbClr val="B6D6FC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5728494"/>
            <a:ext cx="134339" cy="10745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10815" y="5676305"/>
            <a:ext cx="10411854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 prática: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Local File deve ser elaborado de forma contemporânea às transações, preferencialmente até a data de entrega da ECF, e revisado anualmente para refletir mudanças operacionais ou legislativas.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001" y="464245"/>
            <a:ext cx="485961" cy="189607"/>
          </a:xfrm>
          <a:prstGeom prst="roundRect">
            <a:avLst>
              <a:gd name="adj" fmla="val 6771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60444" y="502642"/>
            <a:ext cx="954659" cy="112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36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190001" y="681534"/>
            <a:ext cx="7496781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File: Conteúdo Esperado e Principais Pontos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190001" y="1119684"/>
            <a:ext cx="7811694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documento central da documentação de preço de transferência no Brasil. Deve ser elaborado anualmente pela entidade brasileira e conter análise robusta, consistente e defensável de todas as transações com partes relacionadas. A qualidade deste documento é determinante em eventuais processos de fiscalização pela Receita Federal.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90001" y="1620143"/>
            <a:ext cx="781130" cy="704354"/>
          </a:xfrm>
          <a:prstGeom prst="roundRect">
            <a:avLst>
              <a:gd name="adj" fmla="val 2278"/>
            </a:avLst>
          </a:prstGeom>
          <a:solidFill>
            <a:srgbClr val="7B2CBF"/>
          </a:solidFill>
          <a:ln/>
        </p:spPr>
      </p:sp>
      <p:sp>
        <p:nvSpPr>
          <p:cNvPr id="7" name="Text 5"/>
          <p:cNvSpPr/>
          <p:nvPr/>
        </p:nvSpPr>
        <p:spPr>
          <a:xfrm>
            <a:off x="2505310" y="1878310"/>
            <a:ext cx="15041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78085" y="1727101"/>
            <a:ext cx="2537952" cy="1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Identificação das Partes Relacionadas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78085" y="1935758"/>
            <a:ext cx="6816654" cy="281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completo de todas as contrapartes vinculadas, com descrição da natureza do vínculo, percentual de participação societária e jurisdição de cada entidade do grupo envolvida nas transações.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24608" y="2321322"/>
            <a:ext cx="6923609" cy="6350"/>
          </a:xfrm>
          <a:prstGeom prst="roundRect">
            <a:avLst>
              <a:gd name="adj" fmla="val 252726"/>
            </a:avLst>
          </a:prstGeom>
          <a:solidFill>
            <a:srgbClr val="7B2CBF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001" y="2377976"/>
            <a:ext cx="1562259" cy="704354"/>
          </a:xfrm>
          <a:prstGeom prst="roundRect">
            <a:avLst>
              <a:gd name="adj" fmla="val 2278"/>
            </a:avLst>
          </a:prstGeom>
          <a:solidFill>
            <a:srgbClr val="8B3FBF"/>
          </a:solidFill>
          <a:ln/>
        </p:spPr>
      </p:sp>
      <p:sp>
        <p:nvSpPr>
          <p:cNvPr id="12" name="Text 10"/>
          <p:cNvSpPr/>
          <p:nvPr/>
        </p:nvSpPr>
        <p:spPr>
          <a:xfrm>
            <a:off x="2895924" y="2636143"/>
            <a:ext cx="15041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59215" y="2484934"/>
            <a:ext cx="2742834" cy="1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Descrição das Transações Intercompany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59215" y="2693591"/>
            <a:ext cx="6035524" cy="281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Detalhamento de todas as operações realizadas, incluindo valores, volumes, condições comerciais, moeda de liquidação e termos contratuais. Abrange importações, exportações, serviços, royalties e financiamentos.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05738" y="3079155"/>
            <a:ext cx="6142479" cy="6350"/>
          </a:xfrm>
          <a:prstGeom prst="roundRect">
            <a:avLst>
              <a:gd name="adj" fmla="val 252726"/>
            </a:avLst>
          </a:prstGeom>
          <a:solidFill>
            <a:srgbClr val="8B3FB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001" y="3135809"/>
            <a:ext cx="2343488" cy="845245"/>
          </a:xfrm>
          <a:prstGeom prst="roundRect">
            <a:avLst>
              <a:gd name="adj" fmla="val 1899"/>
            </a:avLst>
          </a:prstGeom>
          <a:solidFill>
            <a:srgbClr val="9D4FBF"/>
          </a:solidFill>
          <a:ln/>
        </p:spPr>
      </p:sp>
      <p:sp>
        <p:nvSpPr>
          <p:cNvPr id="17" name="Text 15"/>
          <p:cNvSpPr/>
          <p:nvPr/>
        </p:nvSpPr>
        <p:spPr>
          <a:xfrm>
            <a:off x="3286539" y="3464421"/>
            <a:ext cx="15041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0444" y="3242766"/>
            <a:ext cx="2114299" cy="1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Seleção e Aplicação do Método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40444" y="3451423"/>
            <a:ext cx="5254295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 técnica da escolha do método de preço de transferência (PIC, PVL, CPM, entre outros), com demonstração dos cálculos, margens obtidas e faixa de conformidade aplicada conforme a Instrução Normativa vigente.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86966" y="3977878"/>
            <a:ext cx="5361250" cy="6350"/>
          </a:xfrm>
          <a:prstGeom prst="roundRect">
            <a:avLst>
              <a:gd name="adj" fmla="val 252726"/>
            </a:avLst>
          </a:prstGeom>
          <a:solidFill>
            <a:srgbClr val="9D4FBF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001" y="4034532"/>
            <a:ext cx="3124618" cy="845245"/>
          </a:xfrm>
          <a:prstGeom prst="roundRect">
            <a:avLst>
              <a:gd name="adj" fmla="val 1899"/>
            </a:avLst>
          </a:prstGeom>
          <a:solidFill>
            <a:srgbClr val="AF5FBF"/>
          </a:solidFill>
          <a:ln/>
        </p:spPr>
      </p:sp>
      <p:sp>
        <p:nvSpPr>
          <p:cNvPr id="22" name="Text 20"/>
          <p:cNvSpPr/>
          <p:nvPr/>
        </p:nvSpPr>
        <p:spPr>
          <a:xfrm>
            <a:off x="3677054" y="4363145"/>
            <a:ext cx="15041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21574" y="4141490"/>
            <a:ext cx="1932634" cy="1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de Comparabilidade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21574" y="4350147"/>
            <a:ext cx="4473165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 de comparáveis com descrição dos critérios de busca, bases de dados utilizadas, ajustes de comparabilidade aplicados e análise de similaridade funcional entre as empresas comparadas e a entidade brasileira.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68096" y="4876602"/>
            <a:ext cx="4580121" cy="6350"/>
          </a:xfrm>
          <a:prstGeom prst="roundRect">
            <a:avLst>
              <a:gd name="adj" fmla="val 252726"/>
            </a:avLst>
          </a:prstGeom>
          <a:solidFill>
            <a:srgbClr val="AF5FBF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001" y="4933255"/>
            <a:ext cx="3905847" cy="845245"/>
          </a:xfrm>
          <a:prstGeom prst="roundRect">
            <a:avLst>
              <a:gd name="adj" fmla="val 1899"/>
            </a:avLst>
          </a:prstGeom>
          <a:solidFill>
            <a:srgbClr val="C77FBF"/>
          </a:solidFill>
          <a:ln/>
        </p:spPr>
      </p:sp>
      <p:sp>
        <p:nvSpPr>
          <p:cNvPr id="27" name="Text 25"/>
          <p:cNvSpPr/>
          <p:nvPr/>
        </p:nvSpPr>
        <p:spPr>
          <a:xfrm>
            <a:off x="4067669" y="5261868"/>
            <a:ext cx="15041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02803" y="5040213"/>
            <a:ext cx="2532495" cy="1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Demonstrações Financeiras e Anexos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2803" y="5248870"/>
            <a:ext cx="3691937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Demonstrações contábeis da entidade brasileira, contratos intercompany assinados, políticas de precificação do grupo e demais evidências documentais que suportem as conclusões da análise.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90001" y="5856288"/>
            <a:ext cx="7811694" cy="459581"/>
          </a:xfrm>
          <a:prstGeom prst="roundRect">
            <a:avLst>
              <a:gd name="adj" fmla="val 3492"/>
            </a:avLst>
          </a:prstGeom>
          <a:solidFill>
            <a:srgbClr val="B6D6FC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956" y="5997873"/>
            <a:ext cx="133644" cy="10695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537555" y="5945188"/>
            <a:ext cx="7357184" cy="281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 prática: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Local File deve ser elaborado de forma contemporânea às transações, preferencialmente até a data de entrega da ECF, e revisado anualmente para refletir mudanças operacionais ou legislativas.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75283"/>
            <a:ext cx="671694" cy="282972"/>
          </a:xfrm>
          <a:prstGeom prst="roundRect">
            <a:avLst>
              <a:gd name="adj" fmla="val 631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219" y="726281"/>
            <a:ext cx="10899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574" y="1011833"/>
            <a:ext cx="9473963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File: Estrutura Global e Cadeia de Valor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574" y="1677888"/>
            <a:ext cx="1086854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File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documento de nível global, elaborado pela controladora do grupo multinacional, que fornece à Receita Federal uma visão panorâmica das operações, estrutura organizacional e estratégia de precificação do grupo. No Brasil, sua entrega é obrigatória para grupos que atendam aos critérios de faturamento e volume de transações estabelecidos pela legislação.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574" y="2641203"/>
            <a:ext cx="437226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Componentes Essenciais do Master File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574" y="3007618"/>
            <a:ext cx="5252708" cy="3128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Organizacional: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organograma global do grupo, lista de todas as entidades jurídicas e descrição da estrutura de propriedade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 dos Negócios: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visão geral das atividades, estratégias comerciais, fatores econômicos relevantes e principais mercados de atuação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Intangíveis: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política de desenvolvimento, propriedade e exploração de intangíveis, incluindo acordos de compartilhamento de custos (CCA)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Financeiras: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descrição de como o grupo financia suas operações, políticas de tesouraria e acordos de financiamento intercompany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Posição Fiscal e Financeira: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demonstrações financeiras consolidadas do grupo e alocação global de receitas e resultados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6610" y="2507258"/>
            <a:ext cx="5467015" cy="3675360"/>
          </a:xfrm>
          <a:prstGeom prst="roundRect">
            <a:avLst>
              <a:gd name="adj" fmla="val 607"/>
            </a:avLst>
          </a:prstGeom>
          <a:solidFill>
            <a:srgbClr val="403CCF"/>
          </a:solidFill>
          <a:ln/>
        </p:spPr>
      </p:sp>
      <p:sp>
        <p:nvSpPr>
          <p:cNvPr id="9" name="Text 7"/>
          <p:cNvSpPr/>
          <p:nvPr/>
        </p:nvSpPr>
        <p:spPr>
          <a:xfrm>
            <a:off x="6325434" y="2641203"/>
            <a:ext cx="306429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Cadeia de Valor do Grupo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25434" y="3007618"/>
            <a:ext cx="516936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Master File deve descrever claramente como o valor é criado, distribuído e capturado ao longo da cadeia produtiva do grupo multinacional, identificando: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25434" y="3806825"/>
            <a:ext cx="5169366" cy="127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exercidas por cada entidade (desenvolvimento, manufatura, distribuição, marketing)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utilizados (tangíveis e intangíveis)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 assumidos por cada jurisdição</a:t>
            </a:r>
            <a:endParaRPr lang="en-US" sz="11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Contribuição de cada entidade para o resultado consolidado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5434" y="5198963"/>
            <a:ext cx="516936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 análise é fundamental para justificar a alocação de lucros entre as jurisdições e sustentar a política de preços praticada.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85887"/>
            <a:ext cx="561465" cy="226020"/>
          </a:xfrm>
          <a:prstGeom prst="roundRect">
            <a:avLst>
              <a:gd name="adj" fmla="val 658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2336" y="629444"/>
            <a:ext cx="1009526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574" y="849114"/>
            <a:ext cx="10955063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ECF: Obrigações Fiscais e Informações de Preço de Transferência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574" y="1376263"/>
            <a:ext cx="1086854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Escrituração Contábil Fiscal (ECF)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a obrigação acessória anual entregue via SPED que consolida as informações fiscais da pessoa jurídica. No contexto de preço de transferência, a ECF é o principal instrumento de comunicação entre o contribuinte e a Receita Federal sobre as transações com partes relacionadas realizadas no exercício.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5594" y="2014141"/>
            <a:ext cx="124020" cy="658713"/>
          </a:xfrm>
          <a:prstGeom prst="roundRect">
            <a:avLst>
              <a:gd name="adj" fmla="val 15003"/>
            </a:avLst>
          </a:prstGeom>
          <a:solidFill>
            <a:srgbClr val="EAE8F3"/>
          </a:solidFill>
          <a:ln/>
        </p:spPr>
      </p:sp>
      <p:sp>
        <p:nvSpPr>
          <p:cNvPr id="7" name="Shape 5"/>
          <p:cNvSpPr/>
          <p:nvPr/>
        </p:nvSpPr>
        <p:spPr>
          <a:xfrm>
            <a:off x="661574" y="1932682"/>
            <a:ext cx="372061" cy="372070"/>
          </a:xfrm>
          <a:prstGeom prst="roundRect">
            <a:avLst>
              <a:gd name="adj" fmla="val 102400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54540" y="200243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26601" y="1952129"/>
            <a:ext cx="262268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Bloco P – Preço de Transferência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6601" y="2201664"/>
            <a:ext cx="1040352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detalhado de todas as transações com partes relacionadas no exterior, incluindo importações, exportações, custos, despesas e receitas financeiras. Contém os métodos aplicados, percentuais de lucro e valores ajustados.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71625" y="2951956"/>
            <a:ext cx="124020" cy="658713"/>
          </a:xfrm>
          <a:prstGeom prst="roundRect">
            <a:avLst>
              <a:gd name="adj" fmla="val 15003"/>
            </a:avLst>
          </a:prstGeom>
          <a:solidFill>
            <a:srgbClr val="EAE8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7605" y="2870498"/>
            <a:ext cx="372061" cy="372070"/>
          </a:xfrm>
          <a:prstGeom prst="roundRect">
            <a:avLst>
              <a:gd name="adj" fmla="val 102400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940570" y="2940248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12631" y="2889945"/>
            <a:ext cx="235519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Cruzamento com o Local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2631" y="3139480"/>
            <a:ext cx="1021749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informações declaradas na ECF devem ser consistentes com o Local File. Inconsistências entre os documentos são os principais gatilhos para autuações e processos de fiscalização pela RFB.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57655" y="3889772"/>
            <a:ext cx="124020" cy="658713"/>
          </a:xfrm>
          <a:prstGeom prst="roundRect">
            <a:avLst>
              <a:gd name="adj" fmla="val 15003"/>
            </a:avLst>
          </a:prstGeom>
          <a:solidFill>
            <a:srgbClr val="EAE8F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635" y="3808313"/>
            <a:ext cx="372061" cy="372070"/>
          </a:xfrm>
          <a:prstGeom prst="roundRect">
            <a:avLst>
              <a:gd name="adj" fmla="val 102400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601" y="387806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98662" y="3827760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Prazo de Entrega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98662" y="4077295"/>
            <a:ext cx="1003145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ECF deve ser entregue até o último dia útil de julho do ano seguinte ao período de apuração. O atraso na entrega sujeita a empresa a multas que podem chegar a R$ 5.000,00 por mês de atraso.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43785" y="4827588"/>
            <a:ext cx="124020" cy="658713"/>
          </a:xfrm>
          <a:prstGeom prst="roundRect">
            <a:avLst>
              <a:gd name="adj" fmla="val 15003"/>
            </a:avLst>
          </a:prstGeom>
          <a:solidFill>
            <a:srgbClr val="EAE8F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765" y="4746129"/>
            <a:ext cx="372061" cy="372070"/>
          </a:xfrm>
          <a:prstGeom prst="roundRect">
            <a:avLst>
              <a:gd name="adj" fmla="val 102400"/>
            </a:avLst>
          </a:prstGeom>
          <a:solidFill>
            <a:srgbClr val="EAE8F3"/>
          </a:solidFill>
          <a:ln/>
        </p:spPr>
      </p:sp>
      <p:sp>
        <p:nvSpPr>
          <p:cNvPr id="23" name="Text 21"/>
          <p:cNvSpPr/>
          <p:nvPr/>
        </p:nvSpPr>
        <p:spPr>
          <a:xfrm>
            <a:off x="1312730" y="4815880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684791" y="4765576"/>
            <a:ext cx="181337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Validação e Retificação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84791" y="5015111"/>
            <a:ext cx="98453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a entrega, é possível retificar a ECF dentro do prazo legal. Erros identificados em fiscalização podem ser corrigidos via retificação espontânea, reduzindo a exposição a multas qualificadas.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1574" y="5590977"/>
            <a:ext cx="10868547" cy="576461"/>
          </a:xfrm>
          <a:prstGeom prst="roundRect">
            <a:avLst>
              <a:gd name="adj" fmla="val 3228"/>
            </a:avLst>
          </a:prstGeom>
          <a:solidFill>
            <a:srgbClr val="FCF2B5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94" y="5758061"/>
            <a:ext cx="154976" cy="12402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64591" y="5705574"/>
            <a:ext cx="1034151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partir de 2024, a RFB intensificou o cruzamento automatizado entre a ECF e outras obrigações acessórias (ECD, EFD, DIRF). Inconsistências são identificadas automaticamente pelo sistema de inteligência fiscal da Receita.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73497"/>
            <a:ext cx="598175" cy="244475"/>
          </a:xfrm>
          <a:prstGeom prst="roundRect">
            <a:avLst>
              <a:gd name="adj" fmla="val 649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7297" y="719534"/>
            <a:ext cx="10363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960239"/>
            <a:ext cx="10673091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Prazos e Responsabilidades: Cronograma de Conformidade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532434"/>
            <a:ext cx="108685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eficiente da documentação de preço de transferência exige um cronograma bem definido, com responsabilidades claras atribuídas a cada área envolvida. A ausência de um processo estruturado é uma das principais causas de descumprimento das obrigações e exposição a riscos fiscais.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574" y="3271044"/>
            <a:ext cx="10868547" cy="19050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sp>
        <p:nvSpPr>
          <p:cNvPr id="7" name="Shape 5"/>
          <p:cNvSpPr/>
          <p:nvPr/>
        </p:nvSpPr>
        <p:spPr>
          <a:xfrm>
            <a:off x="2419389" y="3006427"/>
            <a:ext cx="19050" cy="264616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05" y="3221434"/>
            <a:ext cx="99216" cy="99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1946" y="2032496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Janeiro – Fevereiro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829" y="2302669"/>
            <a:ext cx="3270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Tributário / Contábil:</a:t>
            </a:r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Levantamento das transações intercompany do exercício anterior, coleta de contratos e identificação de novas operações.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52806" y="3271044"/>
            <a:ext cx="19050" cy="264616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723" y="3221434"/>
            <a:ext cx="99216" cy="99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35363" y="3667919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Março – Abril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27247" y="3938091"/>
            <a:ext cx="3270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Tributário + Financeiro:</a:t>
            </a:r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Início da pesquisa de comparáveis, seleção do método e elaboração dos cálculos preliminares do Local File.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6323" y="3006427"/>
            <a:ext cx="19050" cy="264616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39" y="3221434"/>
            <a:ext cx="99216" cy="99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8880" y="2032496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Maio – Junho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60763" y="2302669"/>
            <a:ext cx="3270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Tributário + Jurídico:</a:t>
            </a:r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Revisão e validação do Local File, alinhamento com o Master File do grupo e preparação dos dados para a ECF.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919740" y="3271044"/>
            <a:ext cx="19050" cy="264616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657" y="3221434"/>
            <a:ext cx="99216" cy="99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2297" y="3667919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Julho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94181" y="3938091"/>
            <a:ext cx="3270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Tributário / TI:</a:t>
            </a:r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Entrega da ECF via SPED até o último dia útil. Arquivamento da documentação de suporte para eventual fiscalização.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753257" y="3006427"/>
            <a:ext cx="19050" cy="264616"/>
          </a:xfrm>
          <a:prstGeom prst="roundRect">
            <a:avLst>
              <a:gd name="adj" fmla="val 104183"/>
            </a:avLst>
          </a:prstGeom>
          <a:solidFill>
            <a:srgbClr val="D0CED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173" y="3221434"/>
            <a:ext cx="99216" cy="9921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16566" y="2032496"/>
            <a:ext cx="16923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Agosto – Dezembro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127697" y="2302669"/>
            <a:ext cx="32701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áreas:</a:t>
            </a:r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Monitoramento contínuo das transações, atualização de contratos, revisão de políticas e preparação para o próximo ciclo.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66326" y="4628654"/>
            <a:ext cx="5463443" cy="1555750"/>
          </a:xfrm>
          <a:prstGeom prst="roundRect">
            <a:avLst>
              <a:gd name="adj" fmla="val 1276"/>
            </a:avLst>
          </a:prstGeom>
          <a:solidFill>
            <a:srgbClr val="403CCF"/>
          </a:solidFill>
          <a:ln/>
        </p:spPr>
      </p:sp>
      <p:sp>
        <p:nvSpPr>
          <p:cNvPr id="28" name="Text 21"/>
          <p:cNvSpPr/>
          <p:nvPr/>
        </p:nvSpPr>
        <p:spPr>
          <a:xfrm>
            <a:off x="698582" y="4734421"/>
            <a:ext cx="294245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Responsabilidades por Área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98582" y="5046861"/>
            <a:ext cx="5198932" cy="1100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Tributário: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liderança do processo, elaboração e revisão dos documentos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Financeiro: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fornecimento de dados contábeis e financeiros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Jurídico: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revisão de contratos e aspectos legais das operações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Comercial: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informações sobre condições de mercado e negociações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 / Controladoria: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extração de dados e suporte ao SPED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263523" y="4734421"/>
            <a:ext cx="259351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Boas Práticas de Gestão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263523" y="5046861"/>
            <a:ext cx="5272948" cy="1100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um responsável único (owner) pelo processo de PT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 repositório centralizado de documentos e evidências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reuniões periódicas de acompanhamento entre áreas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Documentar decisões metodológicas com memorandos internos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mudanças legislativas que impactem a conformidade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99377" y="492720"/>
            <a:ext cx="378510" cy="141684"/>
          </a:xfrm>
          <a:prstGeom prst="roundRect">
            <a:avLst>
              <a:gd name="adj" fmla="val 700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55335" y="523875"/>
            <a:ext cx="876179" cy="79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40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2699377" y="650875"/>
            <a:ext cx="679284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Governança e Compliance: Controles Internos e Interação entre Áreas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99377" y="1229816"/>
            <a:ext cx="6792842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conformidade em preço de transferência não é responsabilidade exclusiva da área tributária. Trata-se de um esforço multidisciplinar que exige governança estruturada, processos definidos e controles internos robustos para garantir a sustentabilidade da posição adotada perante a Receita Federal.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prática, a governança e o compliance em preço de transferência funcionam como a base de sustentação de toda a estratégia documental e operacional do grupo. Quando há papéis claramente definidos, fluxos de aprovação formais e mecanismos de controle consistentes, a empresa reduz o risco de inconsistências entre contratos, contabilização, práticas comerciais e documentação fiscal. Além disso, uma estrutura de governança madura facilita a tomada de decisão, melhora a rastreabilidade das operações intercompany e fortalece a defesa da posição adotada em eventuais fiscalizações, auditorias ou discussões com a autoridade fiscal. Em um ambiente regulatório mais exigente, compliance deixa de ser apenas uma obrigação e passa a ser um instrumento de proteção reputacional, previsibilidade financeira e mitigação de riscos tributários.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377" y="2115641"/>
            <a:ext cx="165294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9377" y="2332534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Tributário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545" y="2115641"/>
            <a:ext cx="165294" cy="165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1545" y="2332534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Financeiro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9377" y="2544366"/>
            <a:ext cx="165294" cy="165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99377" y="2761258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Jurídico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545" y="2544366"/>
            <a:ext cx="165294" cy="1652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21545" y="2761258"/>
            <a:ext cx="143665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Controladoria/Compliance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2699377" y="2978150"/>
            <a:ext cx="261524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Elementos de uma Governança Eficaz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2699377" y="3148608"/>
            <a:ext cx="3295568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Política Formal de PT: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documento aprovado pela diretoria que estabelece as diretrizes de precificação intercompany do grupo no Brasil, os princípios de aderência ao princípio arm's length e os critérios de atualização periódica conforme mudanças regulatórias.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Comitê de PT: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fórum periódico com representantes das áreas envolvidas para revisão de transações, métodos e riscos, com atas, agenda fixa e deliberações documentadas para assegurar rastreabilidade das decisões.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Processos: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fluxo documentado de como as transações são identificadas, aprovadas e registradas, incluindo pontos de controle, responsáveis por cada etapa e evidências mínimas exigidas para auditoria interna e externa.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Segregação de Funções: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definição clara de quem aprova, executa, registra e revisa cada etapa do processo, evitando conflito de interesses e reduzindo a possibilidade de falhas operacionais ou manipulação de informações.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Riscos: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identificação das transações mais sensíveis, análise de materialidade e definição de planos de ação para pontos com maior exposição fiscal ou maior complexidade técnica.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Calendário de Compliance: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cronograma anual com entregas, revisões e checkpoints entre as áreas, para garantir que a documentação, os cálculos e as validações ocorram dentro dos prazos legais.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Rastreabilidade e Evidências: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manutenção de histórico de e-mails, contratos, memórias de cálculo e aprovações formais para demonstrar consistência entre a prática operacional e a posição fiscal adotada.</a:t>
            </a:r>
            <a:endParaRPr lang="en-US" sz="650" dirty="0"/>
          </a:p>
        </p:txBody>
      </p:sp>
      <p:sp>
        <p:nvSpPr>
          <p:cNvPr id="16" name="Shape 10"/>
          <p:cNvSpPr/>
          <p:nvPr/>
        </p:nvSpPr>
        <p:spPr>
          <a:xfrm>
            <a:off x="6143372" y="2936875"/>
            <a:ext cx="3414627" cy="3428305"/>
          </a:xfrm>
          <a:prstGeom prst="roundRect">
            <a:avLst>
              <a:gd name="adj" fmla="val 363"/>
            </a:avLst>
          </a:prstGeom>
          <a:solidFill>
            <a:srgbClr val="403CCF"/>
          </a:solidFill>
          <a:ln/>
        </p:spPr>
      </p:sp>
      <p:sp>
        <p:nvSpPr>
          <p:cNvPr id="17" name="Text 11"/>
          <p:cNvSpPr/>
          <p:nvPr/>
        </p:nvSpPr>
        <p:spPr>
          <a:xfrm>
            <a:off x="6226019" y="2978150"/>
            <a:ext cx="216093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Controles Internos Essenciais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226019" y="3148608"/>
            <a:ext cx="3249333" cy="320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Aprovação formal de todos os contratos intercompany antes da execução, com validação jurídica, tributária e financeira das cláusulas críticas, especialmente preço, prazo, escopo e moeda aplicável.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Conciliação periódica de saldos intercompany entre as entidades, com análise de diferenças, definição de responsáveis pela correção e trilha de auditoria para ajustes contábeis.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trimestral das margens praticadas versus faixa de conformidade, com monitoramento de desvios, justificativas documentadas e gatilhos para reavaliação do método adotado.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 de mudanças nas operações que possam exigir revisão do método, como novos produtos, entrada de entidades no grupo, alterações de volume ou mudança relevante no modelo de negócios.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interna com escopo específico em preço de transferência, abrangendo amostragem de contratos, reconciliação de dados e testes de aderência entre políticas internas e execução prática.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periódico das equipes envolvidas nas operações intercompany, para assegurar entendimento dos critérios de precificação, documentação necessária e impactos de eventual descumprimento.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cruzada entre sistemas e relatórios, garantindo consistência entre ERP, contabilidade, contratos e bases usadas na elaboração dos estudos de preço de transferência.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Checklist de encerramento de período, com conferência de provisões, lançamentos pendentes, ajustes de margem e completude dos documentos de suporte.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de exceções e operações fora da política, com processo formal de aprovação, justificativa econômica e avaliação de impacto tributário antes da sua execução.</a:t>
            </a:r>
            <a:endParaRPr lang="en-US" sz="6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Seguindo as melhores práticas, os controles devem ser preventivos, detectivos e corretivos, permitindo identificar falhas antes do fechamento, corrigir inconsistências rapidamente e fortalecer continuamente o ambiente de compliance.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0809" y="507702"/>
            <a:ext cx="428813" cy="163413"/>
          </a:xfrm>
          <a:prstGeom prst="roundRect">
            <a:avLst>
              <a:gd name="adj" fmla="val 6908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3513" y="542230"/>
            <a:ext cx="91298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40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40809" y="692448"/>
            <a:ext cx="9004868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Governança e Compliance: Controles Internos e Interação entre Áreas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40809" y="1066502"/>
            <a:ext cx="9509978" cy="41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conformidade em preço de transferência não é responsabilidade exclusiva da área tributária. Trata-se de um esforço multidisciplinar que exige governança estruturada, processos definidos e controles internos robustos para garantir a sustentabilidade da posição adotada perante a Receita Federal.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809" y="1540669"/>
            <a:ext cx="6181471" cy="3477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0809" y="5131395"/>
            <a:ext cx="2890666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Elementos de uma Governança Eficaz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40809" y="5331817"/>
            <a:ext cx="4640246" cy="99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Política Formal de PT: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documento aprovado pela diretoria que estabelece as diretrizes de precificação intercompany do grupo no Brasil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Comitê de PT: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fórum periódico com representantes das áreas envolvidas para revisão de transações, métodos e riscos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Processos: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fluxo documentado de como as transações são identificadas, aprovadas e registradas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Segregação de Funções: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definição clara de quem aprova, executa, registra e revisa cada etapa do processo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149127" y="5077916"/>
            <a:ext cx="4775577" cy="1272282"/>
          </a:xfrm>
          <a:prstGeom prst="roundRect">
            <a:avLst>
              <a:gd name="adj" fmla="val 1109"/>
            </a:avLst>
          </a:prstGeom>
          <a:solidFill>
            <a:srgbClr val="403CCF"/>
          </a:solidFill>
          <a:ln/>
        </p:spPr>
      </p:sp>
      <p:sp>
        <p:nvSpPr>
          <p:cNvPr id="10" name="Text 7"/>
          <p:cNvSpPr/>
          <p:nvPr/>
        </p:nvSpPr>
        <p:spPr>
          <a:xfrm>
            <a:off x="6243184" y="5131395"/>
            <a:ext cx="2374047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Controles Internos Essenciais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43184" y="5331817"/>
            <a:ext cx="4587463" cy="801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Aprovação formal de todos os contratos intercompany antes da execução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Conciliação periódica de saldos intercompany entre as entidades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trimestral das margens praticadas versus faixa de conformidade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 de mudanças nas operações que possam exigir revisão do método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interna com escopo específico em preço de transferência</a:t>
            </a:r>
            <a:endParaRPr lang="en-US" sz="7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periódico das equipes envolvidas nas operações intercompany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13457"/>
            <a:ext cx="598175" cy="244475"/>
          </a:xfrm>
          <a:prstGeom prst="roundRect">
            <a:avLst>
              <a:gd name="adj" fmla="val 649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7297" y="559495"/>
            <a:ext cx="10363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800199"/>
            <a:ext cx="98913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Principais Riscos: Red Flags em Preço de Transferência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372394"/>
            <a:ext cx="108685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identificação precoce dos principais riscos em preço de transferência permite que a empresa adote medidas preventivas e corretivas antes de uma fiscalização. Os três red flags mais críticos — inconsistência operacional, benchmarking fraco e falta de documentação — são também os mais frequentemente apontados em autuações pela Receita Federal do Brasil.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15112" y="2868712"/>
            <a:ext cx="2298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Inconsistência Operacional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574" y="3138884"/>
            <a:ext cx="395237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Ocorre quando a realidade econômica das transações não corresponde à documentação apresentada. Exemplos comuns incluem: funções e riscos declarados no Local File diferentes dos efetivamente exercidos; contratos que não refletem as condições praticadas; e alterações operacionais não acompanhadas de revisão metodológica. A RFB utiliza a análise de substância econômica para desconsiderar estruturas puramente formais.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563" y="2548533"/>
            <a:ext cx="2434470" cy="24345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8859" y="3600400"/>
            <a:ext cx="330688" cy="330696"/>
          </a:xfrm>
          <a:prstGeom prst="roundRect">
            <a:avLst>
              <a:gd name="adj" fmla="val 2301925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4849741" y="3672731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11465" y="2062956"/>
            <a:ext cx="310259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Benchmarking Fraco ou Inadequado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11465" y="2333129"/>
            <a:ext cx="401865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pesquisa de comparáveis é o coração da análise de preço de transferência. Um benchmarking fraco se caracteriza por: base de dados inadequada para o setor ou jurisdição; critérios de busca pouco rigorosos; ausência de ajustes de comparabilidade necessários; e seleção de comparáveis com perfis funcionais distintos. Resultados fora da faixa de conformidade sem justificativa técnica robusta são os principais alvos de autuação.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563" y="2548533"/>
            <a:ext cx="2434470" cy="243453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16177" y="2585789"/>
            <a:ext cx="330688" cy="330696"/>
          </a:xfrm>
          <a:prstGeom prst="roundRect">
            <a:avLst>
              <a:gd name="adj" fmla="val 2301925"/>
            </a:avLst>
          </a:prstGeom>
          <a:solidFill>
            <a:srgbClr val="EAE8F3"/>
          </a:solidFill>
          <a:ln/>
        </p:spPr>
      </p:sp>
      <p:sp>
        <p:nvSpPr>
          <p:cNvPr id="15" name="Text 11"/>
          <p:cNvSpPr/>
          <p:nvPr/>
        </p:nvSpPr>
        <p:spPr>
          <a:xfrm>
            <a:off x="6607059" y="2658120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511465" y="3865066"/>
            <a:ext cx="33821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Falta ou Insuficiência de Documentação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11465" y="4135239"/>
            <a:ext cx="401865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ausência de documentação contemporânea é o risco mais grave. A legislação brasileira exige que o Local File esteja disponível na data de entrega da ECF. Empresas que não possuem documentação, ou que a elaboram apenas em resposta a uma fiscalização, estão sujeitas a multas de até 3% do valor das transações, além da possibilidade de glosa integral dos custos e despesas dedutíveis.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563" y="2548533"/>
            <a:ext cx="2434470" cy="243453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516177" y="4615011"/>
            <a:ext cx="330688" cy="330696"/>
          </a:xfrm>
          <a:prstGeom prst="roundRect">
            <a:avLst>
              <a:gd name="adj" fmla="val 2301925"/>
            </a:avLst>
          </a:prstGeom>
          <a:solidFill>
            <a:srgbClr val="EAE8F3"/>
          </a:solidFill>
          <a:ln/>
        </p:spPr>
      </p:sp>
      <p:sp>
        <p:nvSpPr>
          <p:cNvPr id="20" name="Text 15"/>
          <p:cNvSpPr/>
          <p:nvPr/>
        </p:nvSpPr>
        <p:spPr>
          <a:xfrm>
            <a:off x="6607059" y="4687342"/>
            <a:ext cx="1488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61574" y="5587802"/>
            <a:ext cx="10868547" cy="637580"/>
          </a:xfrm>
          <a:prstGeom prst="roundRect">
            <a:avLst>
              <a:gd name="adj" fmla="val 3113"/>
            </a:avLst>
          </a:prstGeom>
          <a:solidFill>
            <a:srgbClr val="FFB3B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29" y="5770662"/>
            <a:ext cx="165294" cy="1322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1379" y="5716091"/>
            <a:ext cx="103064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Financeiro: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Além das multas, a inconsistência em PT pode resultar em tributação adicional sobre lucros presumidos, juros de mora (Selic) e, em casos graves, representação fiscal para fins penais. O custo de uma autuação pode superar em muito o investimento em conformidade preventiva.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96602"/>
            <a:ext cx="525052" cy="208161"/>
          </a:xfrm>
          <a:prstGeom prst="roundRect">
            <a:avLst>
              <a:gd name="adj" fmla="val 667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7375" y="637679"/>
            <a:ext cx="983035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42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574" y="837109"/>
            <a:ext cx="5606116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Encerramento: Mensagens-Chave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574" y="1320403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conformidade em preço de transferência é uma jornada contínua que exige comprometimento, estrutura e visão estratégica. Os pontos a seguir sintetizam as principais mensagens deste módulo e servem como guia para a construção de um programa de compliance sustentável.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574" y="1726406"/>
            <a:ext cx="5393793" cy="1204020"/>
          </a:xfrm>
          <a:prstGeom prst="roundRect">
            <a:avLst>
              <a:gd name="adj" fmla="val 1442"/>
            </a:avLst>
          </a:prstGeom>
          <a:solidFill>
            <a:srgbClr val="EAE8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60" y="1842095"/>
            <a:ext cx="347257" cy="34726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706" y="1937544"/>
            <a:ext cx="156266" cy="156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60" y="2270323"/>
            <a:ext cx="187419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Documentação Integrada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60" y="2499816"/>
            <a:ext cx="516242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File, Master File e ECF formam um ecossistema documental interdependente. A consistência entre eles é a primeira linha de defesa em qualquer fiscalização.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36328" y="1726406"/>
            <a:ext cx="5393793" cy="1204020"/>
          </a:xfrm>
          <a:prstGeom prst="roundRect">
            <a:avLst>
              <a:gd name="adj" fmla="val 1442"/>
            </a:avLst>
          </a:prstGeom>
          <a:solidFill>
            <a:srgbClr val="EAE8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14" y="1842095"/>
            <a:ext cx="347257" cy="347266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7460" y="1937544"/>
            <a:ext cx="156266" cy="1562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52014" y="2270323"/>
            <a:ext cx="182478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Cumprimento de Prazos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252014" y="2499816"/>
            <a:ext cx="516242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cronograma de conformidade deve ser tratado como prioridade corporativa. Atrasos geram multas automáticas e aumentam a exposição a riscos de autuação qualificada.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61574" y="3011388"/>
            <a:ext cx="5393793" cy="1204020"/>
          </a:xfrm>
          <a:prstGeom prst="roundRect">
            <a:avLst>
              <a:gd name="adj" fmla="val 1442"/>
            </a:avLst>
          </a:prstGeom>
          <a:solidFill>
            <a:srgbClr val="EAE8F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60" y="3127077"/>
            <a:ext cx="347257" cy="347266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706" y="3222526"/>
            <a:ext cx="156266" cy="1562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7260" y="3555305"/>
            <a:ext cx="211727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Governança Multidisciplinar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777260" y="3784798"/>
            <a:ext cx="516242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PT não é tema exclusivo do tributário. A participação ativa das áreas financeira, jurídica e comercial é essencial para a robustez da documentação e dos controles internos.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6136328" y="3011388"/>
            <a:ext cx="5393793" cy="1204020"/>
          </a:xfrm>
          <a:prstGeom prst="roundRect">
            <a:avLst>
              <a:gd name="adj" fmla="val 1442"/>
            </a:avLst>
          </a:prstGeom>
          <a:solidFill>
            <a:srgbClr val="EAE8F3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2014" y="3127077"/>
            <a:ext cx="347257" cy="347266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7460" y="3222526"/>
            <a:ext cx="156266" cy="15627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252014" y="3555305"/>
            <a:ext cx="188590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Gestão Proativa de Riscos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6252014" y="3784798"/>
            <a:ext cx="516242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mitigar red flags antes de uma fiscalização é a estratégia mais eficaz. Investir em conformidade preventiva é sempre mais barato do que remediar autuações.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835203" y="4397573"/>
            <a:ext cx="1069491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excelência em preço de transferência não se constrói em resposta a uma fiscalização — ela se constrói todos os dias, com processos robustos, documentação contemporânea e governança comprometida."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661574" y="4923532"/>
            <a:ext cx="10868547" cy="8632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28" name="Text 18"/>
          <p:cNvSpPr/>
          <p:nvPr/>
        </p:nvSpPr>
        <p:spPr>
          <a:xfrm>
            <a:off x="661574" y="5082580"/>
            <a:ext cx="3201907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Perguntas e Discussão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661574" y="5493544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é o momento para esclarecer dúvidas, discutir casos práticos e aprofundar temas de interesse específico. A equipe da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A4B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está à disposição para apoiar a implementação e o aprimoramento do programa de preço de transferência da sua organização.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4932" y="5903069"/>
            <a:ext cx="173628" cy="17363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37703" y="5899547"/>
            <a:ext cx="28680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Dúvidas sobre a estrutura documental?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61547" y="5903069"/>
            <a:ext cx="173628" cy="173633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694318" y="5899547"/>
            <a:ext cx="3179187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Questões sobre prazos e responsabilidades internas?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18163" y="5903069"/>
            <a:ext cx="173628" cy="173633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350934" y="5899547"/>
            <a:ext cx="3179187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Casos específicos da sua operação para discussão?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02444"/>
            <a:ext cx="624963" cy="258266"/>
          </a:xfrm>
          <a:prstGeom prst="roundRect">
            <a:avLst>
              <a:gd name="adj" fmla="val 6430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5798" y="550267"/>
            <a:ext cx="105595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6503" y="806946"/>
            <a:ext cx="994593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MCL: Aplicações Típicas e Visão Prática dos Métodos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6503" y="1412974"/>
            <a:ext cx="10698689" cy="60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MCL (Comparable Uncontrolled Price / Método do Preço Comparável Não Controlado) é um dos métodos mais diretos de preço de transferência, pois compara o preço praticado em uma operação controlada com o preço de uma operação comparável entre partes independentes. Quando há comparáveis confiáveis, ele oferece forte evidência de mercado e alto poder de sustentação técnica.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6503" y="2268835"/>
            <a:ext cx="233932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 típicas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6503" y="2600722"/>
            <a:ext cx="5180577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Compra e venda de commodities com preços observáveis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de bens padronizados ou com pouca diferenciação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em que existem contratos similares no mercado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Casos com dados externos confiáveis e comparáveis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6503" y="3651151"/>
            <a:ext cx="2768332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Visão prática do método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6503" y="3983038"/>
            <a:ext cx="5180577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a transação controlada e suas características essenciais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comparáveis internos ou externos com condições semelhantes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Ajustar diferenças materiais de volume, prazo, qualidade e mercado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Comparar os preços e verificar aderência ao princípio arm’s length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70964" y="2268835"/>
            <a:ext cx="233932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Vantagens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70964" y="2600722"/>
            <a:ext cx="5180577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Metodologia intuitiva e de fácil explicação para auditorias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Forte alinhamento com a lógica de mercado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credibilidade quando os comparáveis são robustos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70964" y="3407370"/>
            <a:ext cx="233932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Limitações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70964" y="3739257"/>
            <a:ext cx="5180577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 comparabilidade muito rigorosa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ser difícil aplicar em ativos intangíveis ou serviços complexos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Sensível a diferenças contratuais e condições comerciais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70964" y="4545905"/>
            <a:ext cx="286040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Quando é mais ეფექტivo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70964" y="4877792"/>
            <a:ext cx="5180577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de commodities com referência pública de preço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Produtos com mercado ativo e ampla transparência de preços</a:t>
            </a:r>
            <a:endParaRPr lang="en-US" sz="10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com comparáveis internos bem documentados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6503" y="5773837"/>
            <a:ext cx="10698689" cy="10319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6503" y="5948859"/>
            <a:ext cx="10698689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prática, o MCL é mais eficaz quando a empresa consegue demonstrar que a transação analisada é suficientemente próxima de uma operação independente. Quanto mais padronizado e transparente for o bem ou serviço, maior a confiabilidade do método e menor a necessidade de premissas complexas.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2026-06-12T16:38:23Z</dcterms:created>
  <dcterms:modified xsi:type="dcterms:W3CDTF">2026-06-12T16:38:23Z</dcterms:modified>
</cp:coreProperties>
</file>