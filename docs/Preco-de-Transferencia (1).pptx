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185416"/>
            <a:ext cx="1690539" cy="233214"/>
          </a:xfrm>
          <a:prstGeom prst="roundRect">
            <a:avLst>
              <a:gd name="adj" fmla="val 6383"/>
            </a:avLst>
          </a:prstGeom>
          <a:solidFill>
            <a:srgbClr val="D7D6F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9533" y="1252389"/>
            <a:ext cx="99194" cy="991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48286" y="1222623"/>
            <a:ext cx="185015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CORPORATIVO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5677644" y="1180654"/>
            <a:ext cx="533995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6821" y="1252389"/>
            <a:ext cx="99194" cy="991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05574" y="1222623"/>
            <a:ext cx="68408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3925119" y="14729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Preço de Transferência — Treinamento JBS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3925119" y="2434084"/>
            <a:ext cx="4722763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Capacitação técnica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Pricing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as equipes financeiras, fiscais e de controladoria do Grupo JBS. Este programa aborda desde os fundamentos regulatórios até a construção de análises econômicas robustas, passando pela documentação fiscal e governança de compliance.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 de 2 dias: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 1 — Fundamentos Regulatórios, Análise Funcional e Métodos de TP · Dia 2 — Análise Econômica, Benchmarking, Documentação e Governança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1546" y="742057"/>
            <a:ext cx="1516335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10723" y="784027"/>
            <a:ext cx="181518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| FALTAM 40 SLIDES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3435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 e Objetivos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638895"/>
            <a:ext cx="8151763" cy="9302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958206"/>
            <a:ext cx="2910036" cy="2303711"/>
          </a:xfrm>
          <a:prstGeom prst="roundRect">
            <a:avLst>
              <a:gd name="adj" fmla="val 808"/>
            </a:avLst>
          </a:prstGeom>
          <a:solidFill>
            <a:srgbClr val="C3C2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2125117"/>
            <a:ext cx="193774" cy="1550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7840" y="2113136"/>
            <a:ext cx="23443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Dia 1 - Fundamentos e Operação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7840" y="2624807"/>
            <a:ext cx="2344341" cy="1562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Brasil x OCDE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tripé da Análise Funcional (FAR)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e Classificação de Entidades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Tipos de Transações (Produtos, Serviços, Royalties)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Geral dos Métodos de TP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713485" y="1958206"/>
            <a:ext cx="4939085" cy="1712937"/>
          </a:xfrm>
          <a:prstGeom prst="roundRect">
            <a:avLst>
              <a:gd name="adj" fmla="val 1086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459" y="2125117"/>
            <a:ext cx="193774" cy="1550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55207" y="2113136"/>
            <a:ext cx="31090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Dia 2 - Economia e Compliance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55207" y="2430959"/>
            <a:ext cx="4373389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Construção da Análise Econômica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 e Comparabilidade (O Range)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do Método e PLI na prática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Documental (Local e Master File)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Governança e Principais Riscos (Red Flags)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7248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1568" y="246906"/>
            <a:ext cx="919683" cy="123081"/>
          </a:xfrm>
          <a:prstGeom prst="roundRect">
            <a:avLst>
              <a:gd name="adj" fmla="val 7370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6886" y="278234"/>
            <a:ext cx="60424" cy="60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7522" y="269528"/>
            <a:ext cx="1195611" cy="77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REGULATÓRIO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591568" y="388367"/>
            <a:ext cx="480149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Brasil × OCDE: A Transição do Modelo de TP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91568" y="693688"/>
            <a:ext cx="6418064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Brasil iniciou sua transição ao padrão OCDE com a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 14.596/2023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substituindo o modelo de margens fixas pela metodologia de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internacional.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537097" y="842814"/>
            <a:ext cx="2997175" cy="663848"/>
          </a:xfrm>
          <a:prstGeom prst="roundRect">
            <a:avLst>
              <a:gd name="adj" fmla="val 1708"/>
            </a:avLst>
          </a:prstGeom>
          <a:solidFill>
            <a:srgbClr val="403CCF"/>
          </a:solidFill>
          <a:ln/>
        </p:spPr>
      </p:sp>
      <p:sp>
        <p:nvSpPr>
          <p:cNvPr id="8" name="Text 5"/>
          <p:cNvSpPr/>
          <p:nvPr/>
        </p:nvSpPr>
        <p:spPr>
          <a:xfrm>
            <a:off x="1612627" y="888876"/>
            <a:ext cx="1697087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Anterior — Brasil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612627" y="1053033"/>
            <a:ext cx="284611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Margens fixas por operação (PIC 20%, PRL 60%)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Pouca análise funcional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legal: Lei 9.430/1996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Desalinhado das diretrizes OCDE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8962" y="888876"/>
            <a:ext cx="158241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Atual — OCDE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8962" y="1053033"/>
            <a:ext cx="2888233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 com análise funcional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métodos reconhecidos (BEPS)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legal: Lei 14.596/2023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Alinhado ao padrão internacional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68" y="1558454"/>
            <a:ext cx="5960864" cy="3338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188342"/>
            <a:ext cx="692200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15057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08657"/>
            <a:ext cx="986805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10902"/>
            <a:ext cx="346948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Funcional — O Pilar do TP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578421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mapeia o que cada entidade realiza, quais ativos utiliza e quais riscos assume — base para classificar entidades e selecionar métodos de TP.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897261" y="704031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52" y="771823"/>
            <a:ext cx="203448" cy="20344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1012" y="827782"/>
            <a:ext cx="91529" cy="915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5052" y="1012329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1965052" y="1140619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econômicas: manufatura, distribuição, P&amp;D, marketing.</a:t>
            </a:r>
            <a:endParaRPr lang="en-US" sz="500" dirty="0"/>
          </a:p>
        </p:txBody>
      </p:sp>
      <p:sp>
        <p:nvSpPr>
          <p:cNvPr id="12" name="Shape 7"/>
          <p:cNvSpPr/>
          <p:nvPr/>
        </p:nvSpPr>
        <p:spPr>
          <a:xfrm>
            <a:off x="4590529" y="704031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320" y="771823"/>
            <a:ext cx="203448" cy="20344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4280" y="827782"/>
            <a:ext cx="91529" cy="9152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58320" y="1012329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658320" y="1140619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tangíveis (fábricas, estoques) e intangíveis (marcas, patentes).</a:t>
            </a:r>
            <a:endParaRPr lang="en-US" sz="500" dirty="0"/>
          </a:p>
        </p:txBody>
      </p:sp>
      <p:sp>
        <p:nvSpPr>
          <p:cNvPr id="17" name="Shape 10"/>
          <p:cNvSpPr/>
          <p:nvPr/>
        </p:nvSpPr>
        <p:spPr>
          <a:xfrm>
            <a:off x="1897261" y="1329407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052" y="1397198"/>
            <a:ext cx="203448" cy="203448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1012" y="1453158"/>
            <a:ext cx="91529" cy="91529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965052" y="1637705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</a:t>
            </a:r>
            <a:endParaRPr lang="en-US" sz="650" dirty="0"/>
          </a:p>
        </p:txBody>
      </p:sp>
      <p:sp>
        <p:nvSpPr>
          <p:cNvPr id="21" name="Text 12"/>
          <p:cNvSpPr/>
          <p:nvPr/>
        </p:nvSpPr>
        <p:spPr>
          <a:xfrm>
            <a:off x="1965052" y="1765995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 de mercado, estoque, cambial, crédito e operacional.</a:t>
            </a:r>
            <a:endParaRPr lang="en-US" sz="500" dirty="0"/>
          </a:p>
        </p:txBody>
      </p:sp>
      <p:sp>
        <p:nvSpPr>
          <p:cNvPr id="22" name="Shape 13"/>
          <p:cNvSpPr/>
          <p:nvPr/>
        </p:nvSpPr>
        <p:spPr>
          <a:xfrm>
            <a:off x="4590529" y="1329407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320" y="1397198"/>
            <a:ext cx="203448" cy="203448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14280" y="1453158"/>
            <a:ext cx="91529" cy="91529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658320" y="1637705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Remuneration</a:t>
            </a:r>
            <a:endParaRPr lang="en-US" sz="650" dirty="0"/>
          </a:p>
        </p:txBody>
      </p:sp>
      <p:sp>
        <p:nvSpPr>
          <p:cNvPr id="26" name="Text 15"/>
          <p:cNvSpPr/>
          <p:nvPr/>
        </p:nvSpPr>
        <p:spPr>
          <a:xfrm>
            <a:off x="4658320" y="1765995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 conforme funções, ativos e riscos assumidos.</a:t>
            </a:r>
            <a:endParaRPr lang="en-US" sz="5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7261" y="1959397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04205"/>
            <a:ext cx="883667" cy="159990"/>
          </a:xfrm>
          <a:prstGeom prst="roundRect">
            <a:avLst>
              <a:gd name="adj" fmla="val 6978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9569" y="346993"/>
            <a:ext cx="74414" cy="74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1190" y="332110"/>
            <a:ext cx="1117625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FAR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03759" y="492100"/>
            <a:ext cx="5526658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Functions, Assets &amp; Risks — Detalhamento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759" y="965895"/>
            <a:ext cx="3932858" cy="111539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0424" y="1045146"/>
            <a:ext cx="139526" cy="1395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6301" y="1324198"/>
            <a:ext cx="137599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 — Exemplos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06301" y="1539255"/>
            <a:ext cx="3727772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Manufatura: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produção, controle de qualidade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Distribuição: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logística, vendas, pós-venda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TI, RH, jurídico, financeiro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759" y="2151013"/>
            <a:ext cx="3932858" cy="111539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00424" y="2230264"/>
            <a:ext cx="139526" cy="1395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6301" y="250931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 — Exemplos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1006301" y="2724373"/>
            <a:ext cx="3727772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Tangíveis: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plantas, equipamentos, frota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Intangíveis: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marcas, patentes, know-how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Financeiros: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capital de giro, garantias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759" y="3336131"/>
            <a:ext cx="3932858" cy="1424657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0424" y="3415382"/>
            <a:ext cx="139526" cy="13952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06301" y="369443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 — Exemplos</a:t>
            </a:r>
            <a:endParaRPr lang="en-US" sz="900" dirty="0"/>
          </a:p>
        </p:txBody>
      </p:sp>
      <p:sp>
        <p:nvSpPr>
          <p:cNvPr id="17" name="Text 8"/>
          <p:cNvSpPr/>
          <p:nvPr/>
        </p:nvSpPr>
        <p:spPr>
          <a:xfrm>
            <a:off x="1006301" y="3909492"/>
            <a:ext cx="3727772" cy="748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Mercado: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variação de demanda e preços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Estoque: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obsolescência, perdas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Cambial: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exposição a moedas estrangeiras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Crédito: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inadimplência de clientes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Operacional: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falhas de processo</a:t>
            </a:r>
            <a:endParaRPr lang="en-US" sz="7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8342" y="965895"/>
            <a:ext cx="3176513" cy="24101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262756"/>
            <a:ext cx="603721" cy="119137"/>
          </a:xfrm>
          <a:prstGeom prst="roundRect">
            <a:avLst>
              <a:gd name="adj" fmla="val 7419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2119" y="292894"/>
            <a:ext cx="58862" cy="58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0374" y="284783"/>
            <a:ext cx="884411" cy="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667991" y="399380"/>
            <a:ext cx="4563442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 e Delineamento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67991" y="695027"/>
            <a:ext cx="6265218" cy="9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delineamento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define o perfil funcional de cada entidade. A classificação correta orienta a seleção do método e do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party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91" y="838126"/>
            <a:ext cx="1935956" cy="2946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1587" y="1176412"/>
            <a:ext cx="920651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Fabricante Pleno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741587" y="1317650"/>
            <a:ext cx="1788765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Assume todos os riscos produtivos e de mercado. Remuneração variável conforme desempenho.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947" y="838126"/>
            <a:ext cx="1936031" cy="2946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77543" y="1176412"/>
            <a:ext cx="1088454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Contract Manufacturer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3677543" y="1317650"/>
            <a:ext cx="1788840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Produz sob especificação da matriz. Risco limitado, remuneração baseada em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cost-plus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978" y="838126"/>
            <a:ext cx="1936031" cy="2946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13574" y="1176412"/>
            <a:ext cx="1467743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Distribuidor de Risco Limitado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5613574" y="1317650"/>
            <a:ext cx="1788840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Revende produtos sem assumir risco de estoque ou preço. Remuneração fixa sobre vendas.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991" y="1628254"/>
            <a:ext cx="5808018" cy="3252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46013"/>
            <a:ext cx="927274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72728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66328"/>
            <a:ext cx="1221879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INTERCOMPANY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68573"/>
            <a:ext cx="350631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Tipos de Transações Intercompany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36091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transações entre partes relacionadas devem ser caracterizadas e documentadas individualmente.</a:t>
            </a:r>
            <a:endParaRPr lang="en-US" sz="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7261" y="761702"/>
            <a:ext cx="169590" cy="169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97261" y="977652"/>
            <a:ext cx="126920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Compra e Venda de Produtos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897261" y="1105942"/>
            <a:ext cx="265152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Transferência de mercadorias entre entidades do grupo. Preço definido por método de TP.</a:t>
            </a:r>
            <a:endParaRPr lang="en-US" sz="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5143" y="761702"/>
            <a:ext cx="169590" cy="1695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95143" y="977652"/>
            <a:ext cx="86193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Intragrupo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4595143" y="1105942"/>
            <a:ext cx="265159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compartilhados (TI, RH, jurídico) com cobrança baseada em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test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7261" y="1348011"/>
            <a:ext cx="169590" cy="1695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97261" y="1563960"/>
            <a:ext cx="968722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 e Intangíveis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1897261" y="1692250"/>
            <a:ext cx="265152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de marcas, patentes e know-how. Remuneração via percentual sobre receita líquida.</a:t>
            </a:r>
            <a:endParaRPr lang="en-US" sz="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5143" y="1348011"/>
            <a:ext cx="169590" cy="1695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95143" y="1563960"/>
            <a:ext cx="984200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Financeiras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4595143" y="1692250"/>
            <a:ext cx="265159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Empréstimos, garantias e adiantamentos. Taxa de juros alinhada a benchmarks de mercado.</a:t>
            </a:r>
            <a:endParaRPr lang="en-US" sz="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7261" y="1901800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0107" y="246608"/>
            <a:ext cx="551483" cy="100310"/>
          </a:xfrm>
          <a:prstGeom prst="roundRect">
            <a:avLst>
              <a:gd name="adj" fmla="val 7652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8431" y="271165"/>
            <a:ext cx="51122" cy="51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5077" y="265733"/>
            <a:ext cx="855390" cy="62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DE TP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2050107" y="360090"/>
            <a:ext cx="4536058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Métodos de Preço de Transferência — Visão Geral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050107" y="609377"/>
            <a:ext cx="550098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 14.596/2023</a:t>
            </a:r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adota os seis métodos da OCDE. A escolha considera disponibilidade de comparáveis, perfil funcional e natureza da transação.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2050107" y="723974"/>
            <a:ext cx="5043785" cy="1311325"/>
          </a:xfrm>
          <a:prstGeom prst="roundRect">
            <a:avLst>
              <a:gd name="adj" fmla="val 7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18866" y="753219"/>
            <a:ext cx="108205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2876327" y="753219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Sigla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4134892" y="753219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Típica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5896868" y="753219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PLI Principal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2118866" y="884486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Independente Comparado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2876327" y="884486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 / CUP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134892" y="884486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Commodities e produtos com mercado ativo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5896868" y="884486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unitário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2118866" y="1093291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de Revenda menos Lucro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2876327" y="1093291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PRL / RPM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4134892" y="1093291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Distribuidores de risco limitado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5896868" y="1093291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Mark-up sobre vendas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2118866" y="1302097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de Produção mais Lucro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2876327" y="1302097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MCL / CPM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4134892" y="1302097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 manufacturers e prestadores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5896868" y="1302097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Mark-up sobre custos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2118866" y="1510903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Transacional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2876327" y="1510903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MLT / TNMM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4134892" y="1510903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Entidades com funções simples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5896868" y="1510903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/ Vendas ou Custos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2118866" y="1719709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Dividida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2876327" y="1719709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MDL / NCPM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4134892" y="1719709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com intangíveis valiosos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5896868" y="1719709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relativa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2118866" y="1928515"/>
            <a:ext cx="108205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Divisão de Lucro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2876327" y="1928515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PSM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4134892" y="1928515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elevada entre partes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5896868" y="1928515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de lucro residual</a:t>
            </a:r>
            <a:endParaRPr lang="en-US" sz="5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107" y="2072357"/>
            <a:ext cx="5043785" cy="2824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19819"/>
            <a:ext cx="710729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46534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40134"/>
            <a:ext cx="1005334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ECONÔMICA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42379"/>
            <a:ext cx="364331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Construção do Benchmarking e PLIs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09898"/>
            <a:ext cx="534947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 faixas de remuneração de mercado para validar preços praticados. A escolha do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party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recai sobre a entidade com menor complexidade funcional.</a:t>
            </a:r>
            <a:endParaRPr lang="en-US" sz="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978" y="819448"/>
            <a:ext cx="4159969" cy="1903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7287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IQR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93008" y="2271219"/>
            <a:ext cx="781005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Filtros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714078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Busca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13750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Escolha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897261" y="2765003"/>
            <a:ext cx="534947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Interquartile Range (IQR)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delimita a faixa de conformidade entre o 25º (P25) e o 75º (P75) percentis. Resultados dentro do range indicam conformidade; fora, exigem ajuste.</a:t>
            </a:r>
            <a:endParaRPr lang="en-US" sz="500" dirty="0"/>
          </a:p>
        </p:txBody>
      </p:sp>
      <p:sp>
        <p:nvSpPr>
          <p:cNvPr id="13" name="Shape 9"/>
          <p:cNvSpPr/>
          <p:nvPr/>
        </p:nvSpPr>
        <p:spPr>
          <a:xfrm>
            <a:off x="1848371" y="2974553"/>
            <a:ext cx="2689771" cy="1949053"/>
          </a:xfrm>
          <a:prstGeom prst="roundRect">
            <a:avLst>
              <a:gd name="adj" fmla="val 522"/>
            </a:avLst>
          </a:prstGeom>
          <a:solidFill>
            <a:srgbClr val="403CCF"/>
          </a:solidFill>
          <a:ln/>
        </p:spPr>
      </p:sp>
      <p:sp>
        <p:nvSpPr>
          <p:cNvPr id="14" name="Text 10"/>
          <p:cNvSpPr/>
          <p:nvPr/>
        </p:nvSpPr>
        <p:spPr>
          <a:xfrm>
            <a:off x="1916162" y="3011612"/>
            <a:ext cx="13051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Principais PLIs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916162" y="3154710"/>
            <a:ext cx="255418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Margin: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Receita Líquida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Cost-Plus Mark-up: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Custos Totais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Berry Ratio: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Receita Bruta ÷ Custos Operacionais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Assets: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Ativos Totais</a:t>
            </a:r>
            <a:endParaRPr lang="en-US" sz="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511" y="3016225"/>
            <a:ext cx="2591991" cy="18657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27707"/>
            <a:ext cx="611907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54422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48022"/>
            <a:ext cx="906512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50267"/>
            <a:ext cx="399335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Documental — BEPS Action 13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17786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de TP segue o padrão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BEPS Action 13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composto por três pilares: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File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Country-by-Country Report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897261" y="1310878"/>
            <a:ext cx="5349478" cy="9525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2948360" y="1107467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9" name="Shape 6"/>
          <p:cNvSpPr/>
          <p:nvPr/>
        </p:nvSpPr>
        <p:spPr>
          <a:xfrm>
            <a:off x="2876848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2260" y="1259979"/>
            <a:ext cx="101724" cy="101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29260" y="743396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1965052" y="871686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TP por país: análise funcional, métodos, benchmarking e PLIs. Prazo: entrega com a </a:t>
            </a:r>
            <a:pPr algn="ctr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ECF</a:t>
            </a:r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(julho).</a:t>
            </a:r>
            <a:endParaRPr lang="en-US" sz="500" dirty="0"/>
          </a:p>
        </p:txBody>
      </p:sp>
      <p:sp>
        <p:nvSpPr>
          <p:cNvPr id="13" name="Shape 9"/>
          <p:cNvSpPr/>
          <p:nvPr/>
        </p:nvSpPr>
        <p:spPr>
          <a:xfrm>
            <a:off x="4027512" y="1310841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14" name="Shape 10"/>
          <p:cNvSpPr/>
          <p:nvPr/>
        </p:nvSpPr>
        <p:spPr>
          <a:xfrm>
            <a:off x="3956000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81413" y="1259979"/>
            <a:ext cx="101724" cy="101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8412" y="1582192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File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3044205" y="1710482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global: estrutura do grupo, cadeia de valor, intangíveis e política financeira. Disponível para a Receita Federal.</a:t>
            </a:r>
            <a:endParaRPr lang="en-US" sz="500" dirty="0"/>
          </a:p>
        </p:txBody>
      </p:sp>
      <p:sp>
        <p:nvSpPr>
          <p:cNvPr id="18" name="Shape 13"/>
          <p:cNvSpPr/>
          <p:nvPr/>
        </p:nvSpPr>
        <p:spPr>
          <a:xfrm>
            <a:off x="5106665" y="1107467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19" name="Shape 14"/>
          <p:cNvSpPr/>
          <p:nvPr/>
        </p:nvSpPr>
        <p:spPr>
          <a:xfrm>
            <a:off x="5035153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0566" y="1259979"/>
            <a:ext cx="101724" cy="101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87565" y="743396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ECF / CbCR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4123358" y="871686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Declaração fiscal brasileira com dados consolidados do grupo. Integração com obrigações acessórias do Fisco.</a:t>
            </a:r>
            <a:endParaRPr lang="en-US" sz="500" dirty="0"/>
          </a:p>
        </p:txBody>
      </p:sp>
      <p:sp>
        <p:nvSpPr>
          <p:cNvPr id="23" name="Shape 17"/>
          <p:cNvSpPr/>
          <p:nvPr/>
        </p:nvSpPr>
        <p:spPr>
          <a:xfrm>
            <a:off x="6185892" y="1310841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24" name="Shape 18"/>
          <p:cNvSpPr/>
          <p:nvPr/>
        </p:nvSpPr>
        <p:spPr>
          <a:xfrm>
            <a:off x="6114380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9793" y="1259979"/>
            <a:ext cx="101724" cy="1017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17443" y="1582192"/>
            <a:ext cx="1146497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Governança e Compliance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5202510" y="1710482"/>
            <a:ext cx="1976437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internos, interação entre áreas (fiscal, controladoria, jurídico) e monitoramento contínuo de red flags.</a:t>
            </a:r>
            <a:endParaRPr lang="en-US" sz="5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7261" y="1920032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4414" y="263426"/>
            <a:ext cx="624557" cy="115416"/>
          </a:xfrm>
          <a:prstGeom prst="roundRect">
            <a:avLst>
              <a:gd name="adj" fmla="val 7456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426" y="292447"/>
            <a:ext cx="57299" cy="57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3374" y="284931"/>
            <a:ext cx="909786" cy="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ENCERRAMENTO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744414" y="395362"/>
            <a:ext cx="3719587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Principais Riscos e Próximos Passos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44414" y="681558"/>
            <a:ext cx="6112371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os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flags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podem gerar autuações e garanta uma governança robusta de TP no Grupo JBS.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4889" y="818704"/>
            <a:ext cx="1866900" cy="570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54175" y="899889"/>
            <a:ext cx="1245989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Inconsistência Operacional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854175" y="1036811"/>
            <a:ext cx="1666429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Discrepância entre análise funcional e realidade operacional gera questionamentos fiscais.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3713" y="818704"/>
            <a:ext cx="1866974" cy="570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52999" y="899889"/>
            <a:ext cx="964034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Benchmarking Fraco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3752999" y="1036811"/>
            <a:ext cx="1666503" cy="27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comparáveis insuficiente ou filtros mal aplicados comprometem a defesa em fiscalização.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2611" y="818704"/>
            <a:ext cx="1866900" cy="570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51897" y="899889"/>
            <a:ext cx="1076176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Falta de Documentação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5651897" y="1036811"/>
            <a:ext cx="1666429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Ausência de Local File ou Master File atualizado expõe o grupo a multas e ajustes.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4414" y="1436266"/>
            <a:ext cx="5655171" cy="31668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51943" y="4696271"/>
            <a:ext cx="6004843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Mensagem-chave: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TP é uma disciplina estratégica. Invista em análise funcional robusta, benchmarking de qualidade e documentação completa.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2026-06-11T15:41:12Z</dcterms:created>
  <dcterms:modified xsi:type="dcterms:W3CDTF">2026-06-11T15:41:12Z</dcterms:modified>
</cp:coreProperties>
</file>